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Warm open. 'Thanks for the time — in the next 15 minutes I'll show you exactly how Dispango answers the calls you're missing and turns them into texted leads.' Confirm their name/shop and that they do emergency/after-hours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it visceral: 'When someone's locked out at 2am, do they leave a voicemail and wait? No — they call the next number.' Ask: 'Roughly how many calls a week do you think you miss after hours or when you're on a job?' Let them say the number — it sells the rest.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important slide — the contrast. Point left, then right: 'Right now an after-hours call does this. With Dispango, the exact same call does this.' Same call, opposite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one-liner. Say it slowly. 'It's not voicemail and it's not a call centre — it's an AI that actually has the conversation and hands you a ready-to-work lead.' Then transition: 'Here's how it works.'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right, one sentence each. Emphasise step 3 — 'in seconds' — and step 4, the memory: 'A repeat customer calls and it already knows them. That's the kind of service that keeps people off Google next time.'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'aha' slide — let it land. 'That text arrived 8 seconds after the call ended, at 2am, while you were asleep. You wake up, see a real job with an address, and call Marcus back before your competitor's voicemail even gets checked.'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read all six — hit the two that matched their pain from slide 2. If they said after-hours, lead with 'catch every lead.' If they worried about robots, lead with 'sounds human.' Make it about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ROI slide. 'You're not buying software — you're buying back jobs you're already losing. Catch two a month and it's paid for; everything after is money you weren't seeing.' Tie to the number they gave you on the problem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PLACEHOLDER PRICE — set $XXX before any real call. Anchor on value, not cost: 'One after-hours lockout is usually $150–$250. The plan pays for itself the first job you'd have otherwise missed.' Then go quiet and let them react.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Replaces fabricated testimonials — never fake social proof. Risk-reversal + live proof are the strongest pre-launch trust levers. On a call, actually dial the demo line on speaker and let them hear it. Swap in a real customer quote/screenshot here once you have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Kill the #1 objection — 'this sounds complicated.' It isn't. 'We do the setup, you flip one forwarding setting, and you're getting leads the same day. Your number and your workflow don't change.'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a clear next step: 'I'll set you up with a quick trial so you can hear it answer your own number.' Confirm the follow-up and put time on the calendar before you hang up. Replace contact details on this slide before presenting.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0068" y="1417320"/>
            <a:ext cx="1051560" cy="10515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697480"/>
            <a:ext cx="121916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Dispango</a:t>
            </a:r>
            <a:endParaRPr lang="en-US" sz="5200" dirty="0"/>
          </a:p>
        </p:txBody>
      </p:sp>
      <p:sp>
        <p:nvSpPr>
          <p:cNvPr id="4" name="Text 1"/>
          <p:cNvSpPr/>
          <p:nvPr/>
        </p:nvSpPr>
        <p:spPr>
          <a:xfrm>
            <a:off x="1371600" y="3611880"/>
            <a:ext cx="944849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receptionist that answers every call your shop misses.</a:t>
            </a:r>
            <a:endParaRPr lang="en-US" sz="2100" dirty="0"/>
          </a:p>
        </p:txBody>
      </p:sp>
      <p:sp>
        <p:nvSpPr>
          <p:cNvPr id="5" name="Text 2"/>
          <p:cNvSpPr/>
          <p:nvPr/>
        </p:nvSpPr>
        <p:spPr>
          <a:xfrm>
            <a:off x="1371600" y="4343400"/>
            <a:ext cx="94484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locksmiths  ·  24/7 call answering &amp; instant lead dispatch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84048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36576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Dispango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640080" y="10515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missed call is a job that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went to someone else.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640080" y="2651760"/>
            <a:ext cx="5577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Locksmith calls are urgent — lockouts, break-ins, lost keys. They come after hours and while you're already on a job. Callers rarely leave a voicemail. They just dial the next shop on Google.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583680" y="2514600"/>
            <a:ext cx="1783080" cy="2057400"/>
          </a:xfrm>
          <a:prstGeom prst="roundRect">
            <a:avLst>
              <a:gd name="adj" fmla="val 6154"/>
            </a:avLst>
          </a:prstGeom>
          <a:solidFill>
            <a:srgbClr val="F4F8FD"/>
          </a:solidFill>
          <a:ln w="12700">
            <a:solidFill>
              <a:srgbClr val="E7EDF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0" y="288036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in 3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6720840" y="379476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calls are after-hours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mid-job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8458200" y="2514600"/>
            <a:ext cx="1783080" cy="2057400"/>
          </a:xfrm>
          <a:prstGeom prst="roundRect">
            <a:avLst>
              <a:gd name="adj" fmla="val 6154"/>
            </a:avLst>
          </a:prstGeom>
          <a:solidFill>
            <a:srgbClr val="F4F8FD"/>
          </a:solidFill>
          <a:ln w="12700">
            <a:solidFill>
              <a:srgbClr val="E7EDF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458200" y="288036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F6B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8595360" y="379476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jobs/week a busy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 misses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10332720" y="2514600"/>
            <a:ext cx="1783080" cy="2057400"/>
          </a:xfrm>
          <a:prstGeom prst="roundRect">
            <a:avLst>
              <a:gd name="adj" fmla="val 6154"/>
            </a:avLst>
          </a:prstGeom>
          <a:solidFill>
            <a:srgbClr val="F4F8FD"/>
          </a:solidFill>
          <a:ln w="12700">
            <a:solidFill>
              <a:srgbClr val="E7EDF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332720" y="288036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FA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10469880" y="379476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voicemails callers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84048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36576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Dispango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640080" y="10515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difference is who answers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640080" y="2331720"/>
            <a:ext cx="5257800" cy="3886200"/>
          </a:xfrm>
          <a:prstGeom prst="roundRect">
            <a:avLst>
              <a:gd name="adj" fmla="val 3294"/>
            </a:avLst>
          </a:prstGeom>
          <a:solidFill>
            <a:srgbClr val="FBF1EF"/>
          </a:solidFill>
          <a:ln w="12700">
            <a:solidFill>
              <a:srgbClr val="F0D9D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51560" y="2651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4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Dispango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051560" y="32918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5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508760" y="329184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call rings out or hits voicemail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51560" y="3950208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5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508760" y="3950208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caller won't wait — they dial the next shop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051560" y="4608576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5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508760" y="4608576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job, and the customer, is gone for good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051560" y="5266944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5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508760" y="5266944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answering service just takes a message, and bills per call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263640" y="2331720"/>
            <a:ext cx="5257800" cy="3886200"/>
          </a:xfrm>
          <a:prstGeom prst="roundRect">
            <a:avLst>
              <a:gd name="adj" fmla="val 3294"/>
            </a:avLst>
          </a:prstGeom>
          <a:solidFill>
            <a:srgbClr val="EEF3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675120" y="2651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51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Dispango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675120" y="32918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A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7132320" y="329184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Answered in your shop's name, 24/7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675120" y="3950208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A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132320" y="3950208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job is captured in a natural conversation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675120" y="4608576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A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7132320" y="4608576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lead is texted to you in seconds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675120" y="5266944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A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7132320" y="5266944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call back a warm lead — and win it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F6B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874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Dispango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640080" y="2788920"/>
            <a:ext cx="9692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receptionist that answers in a natural voice, captures the job, and </a:t>
            </a:r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texts the lead to your phone in seconds</a:t>
            </a:r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24/7, even when your hands are full.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84048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36576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Dispango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640080" y="10515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receptionist that never sleeps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640080" y="2468880"/>
            <a:ext cx="2560320" cy="292608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7EDF6"/>
            </a:solidFill>
            <a:prstDash val="solid"/>
          </a:ln>
          <a:effectLst>
            <a:outerShdw sx="100000" sy="100000" kx="0" ky="0" algn="bl" rotWithShape="0" blurRad="114300" dist="38100" dir="5400000">
              <a:srgbClr val="0C1726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60120" y="2788920"/>
            <a:ext cx="713232" cy="713232"/>
          </a:xfrm>
          <a:prstGeom prst="ellipse">
            <a:avLst/>
          </a:prstGeom>
          <a:solidFill>
            <a:srgbClr val="EEF3FE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" y="2962656"/>
            <a:ext cx="365760" cy="3657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2423160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7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000" dirty="0"/>
          </a:p>
        </p:txBody>
      </p:sp>
      <p:sp>
        <p:nvSpPr>
          <p:cNvPr id="9" name="Text 5"/>
          <p:cNvSpPr/>
          <p:nvPr/>
        </p:nvSpPr>
        <p:spPr>
          <a:xfrm>
            <a:off x="932688" y="36576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call comes in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932688" y="411480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you're busy or it's after hours, Dispango answers your number.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3401568" y="2468880"/>
            <a:ext cx="2560320" cy="292608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7EDF6"/>
            </a:solidFill>
            <a:prstDash val="solid"/>
          </a:ln>
          <a:effectLst>
            <a:outerShdw sx="100000" sy="100000" kx="0" ky="0" algn="bl" rotWithShape="0" blurRad="114300" dist="38100" dir="5400000">
              <a:srgbClr val="0C1726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721608" y="2788920"/>
            <a:ext cx="713232" cy="713232"/>
          </a:xfrm>
          <a:prstGeom prst="ellipse">
            <a:avLst/>
          </a:prstGeom>
          <a:solidFill>
            <a:srgbClr val="EEF3FE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5344" y="2962656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184648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7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0"/>
          <p:cNvSpPr/>
          <p:nvPr/>
        </p:nvSpPr>
        <p:spPr>
          <a:xfrm>
            <a:off x="3694176" y="36576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gathers the job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3694176" y="411480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 voice — name, location, the problem, how urgent it is.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6163056" y="2468880"/>
            <a:ext cx="2560320" cy="292608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7EDF6"/>
            </a:solidFill>
            <a:prstDash val="solid"/>
          </a:ln>
          <a:effectLst>
            <a:outerShdw sx="100000" sy="100000" kx="0" ky="0" algn="bl" rotWithShape="0" blurRad="114300" dist="38100" dir="5400000">
              <a:srgbClr val="0C1726">
                <a:alpha val="1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483096" y="2788920"/>
            <a:ext cx="713232" cy="713232"/>
          </a:xfrm>
          <a:prstGeom prst="ellipse">
            <a:avLst/>
          </a:prstGeom>
          <a:solidFill>
            <a:srgbClr val="EEF3FE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6832" y="2962656"/>
            <a:ext cx="365760" cy="36576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946136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7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000" dirty="0"/>
          </a:p>
        </p:txBody>
      </p:sp>
      <p:sp>
        <p:nvSpPr>
          <p:cNvPr id="21" name="Text 15"/>
          <p:cNvSpPr/>
          <p:nvPr/>
        </p:nvSpPr>
        <p:spPr>
          <a:xfrm>
            <a:off x="6455664" y="36576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get a text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6455664" y="411480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lead lands on your phone in seconds. Call back or roll out.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8924544" y="2468880"/>
            <a:ext cx="2560320" cy="292608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7EDF6"/>
            </a:solidFill>
            <a:prstDash val="solid"/>
          </a:ln>
          <a:effectLst>
            <a:outerShdw sx="100000" sy="100000" kx="0" ky="0" algn="bl" rotWithShape="0" blurRad="114300" dist="38100" dir="5400000">
              <a:srgbClr val="0C1726">
                <a:alpha val="10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9244584" y="2788920"/>
            <a:ext cx="713232" cy="713232"/>
          </a:xfrm>
          <a:prstGeom prst="ellipse">
            <a:avLst/>
          </a:prstGeom>
          <a:solidFill>
            <a:srgbClr val="EEF3FE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8320" y="2962656"/>
            <a:ext cx="365760" cy="36576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0707624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7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000" dirty="0"/>
          </a:p>
        </p:txBody>
      </p:sp>
      <p:sp>
        <p:nvSpPr>
          <p:cNvPr id="27" name="Text 20"/>
          <p:cNvSpPr/>
          <p:nvPr/>
        </p:nvSpPr>
        <p:spPr>
          <a:xfrm>
            <a:off x="9217152" y="36576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remembers</a:t>
            </a:r>
            <a:endParaRPr lang="en-US" sz="1600" dirty="0"/>
          </a:p>
        </p:txBody>
      </p:sp>
      <p:sp>
        <p:nvSpPr>
          <p:cNvPr id="28" name="Text 21"/>
          <p:cNvSpPr/>
          <p:nvPr/>
        </p:nvSpPr>
        <p:spPr>
          <a:xfrm>
            <a:off x="9217152" y="411480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callers are greeted by name. No re-explaining the job.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84048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36576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Dispango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640080" y="10515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Here's what lands on your phone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640080" y="214884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dashboard to check, no app to learn. Just a text with everything you need to win the job.</a:t>
            </a:r>
            <a:endParaRPr lang="en-US" sz="17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611880"/>
            <a:ext cx="274320" cy="2743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51560" y="35661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Who's calling and their number</a:t>
            </a:r>
            <a:endParaRPr lang="en-US" sz="15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114800"/>
            <a:ext cx="274320" cy="27432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051560" y="40690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they are</a:t>
            </a:r>
            <a:endParaRPr lang="en-US" sz="15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617720"/>
            <a:ext cx="274320" cy="27432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051560" y="45720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job is and how urgent</a:t>
            </a:r>
            <a:endParaRPr lang="en-US" sz="150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5120640"/>
            <a:ext cx="274320" cy="27432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051560" y="50749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short summary in plain English</a:t>
            </a:r>
            <a:endParaRPr lang="en-US" sz="1500" dirty="0"/>
          </a:p>
        </p:txBody>
      </p:sp>
      <p:sp>
        <p:nvSpPr>
          <p:cNvPr id="14" name="Shape 7"/>
          <p:cNvSpPr/>
          <p:nvPr/>
        </p:nvSpPr>
        <p:spPr>
          <a:xfrm>
            <a:off x="7680960" y="1417320"/>
            <a:ext cx="3108960" cy="4937760"/>
          </a:xfrm>
          <a:prstGeom prst="roundRect">
            <a:avLst>
              <a:gd name="adj" fmla="val 10294"/>
            </a:avLst>
          </a:prstGeom>
          <a:solidFill>
            <a:srgbClr val="0A1320"/>
          </a:solidFill>
          <a:ln/>
          <a:effectLst>
            <a:outerShdw sx="100000" sy="100000" kx="0" ky="0" algn="bl" rotWithShape="0" blurRad="114300" dist="38100" dir="5400000">
              <a:srgbClr val="0C1726">
                <a:alpha val="10000"/>
              </a:srgbClr>
            </a:outerShdw>
          </a:effectLst>
        </p:spPr>
      </p:sp>
      <p:sp>
        <p:nvSpPr>
          <p:cNvPr id="15" name="Shape 8"/>
          <p:cNvSpPr/>
          <p:nvPr/>
        </p:nvSpPr>
        <p:spPr>
          <a:xfrm>
            <a:off x="7845552" y="1581912"/>
            <a:ext cx="2779776" cy="4608576"/>
          </a:xfrm>
          <a:prstGeom prst="roundRect">
            <a:avLst>
              <a:gd name="adj" fmla="val 7237"/>
            </a:avLst>
          </a:prstGeom>
          <a:solidFill>
            <a:srgbClr val="0E1A2B"/>
          </a:solidFill>
          <a:ln/>
        </p:spPr>
      </p:sp>
      <p:sp>
        <p:nvSpPr>
          <p:cNvPr id="16" name="Shape 9"/>
          <p:cNvSpPr/>
          <p:nvPr/>
        </p:nvSpPr>
        <p:spPr>
          <a:xfrm>
            <a:off x="8065008" y="1874520"/>
            <a:ext cx="2340864" cy="914400"/>
          </a:xfrm>
          <a:prstGeom prst="roundRect">
            <a:avLst>
              <a:gd name="adj" fmla="val 12000"/>
            </a:avLst>
          </a:prstGeom>
          <a:solidFill>
            <a:srgbClr val="152538"/>
          </a:solidFill>
          <a:ln/>
        </p:spPr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2075688"/>
            <a:ext cx="292608" cy="292608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8641080" y="19659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7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Missed call · 2:14 AM</a:t>
            </a:r>
            <a:endParaRPr lang="en-US" sz="900" dirty="0"/>
          </a:p>
        </p:txBody>
      </p:sp>
      <p:sp>
        <p:nvSpPr>
          <p:cNvPr id="19" name="Text 11"/>
          <p:cNvSpPr/>
          <p:nvPr/>
        </p:nvSpPr>
        <p:spPr>
          <a:xfrm>
            <a:off x="8641080" y="22585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E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(416) 555-0142</a:t>
            </a:r>
            <a:endParaRPr lang="en-US" sz="1200" dirty="0"/>
          </a:p>
        </p:txBody>
      </p:sp>
      <p:sp>
        <p:nvSpPr>
          <p:cNvPr id="20" name="Shape 12"/>
          <p:cNvSpPr/>
          <p:nvPr/>
        </p:nvSpPr>
        <p:spPr>
          <a:xfrm>
            <a:off x="8065008" y="3017520"/>
            <a:ext cx="2340864" cy="2788920"/>
          </a:xfrm>
          <a:prstGeom prst="roundRect">
            <a:avLst>
              <a:gd name="adj" fmla="val 5469"/>
            </a:avLst>
          </a:prstGeom>
          <a:solidFill>
            <a:srgbClr val="1B3050"/>
          </a:solidFill>
          <a:ln/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47888" y="3200400"/>
            <a:ext cx="237744" cy="237744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8549640" y="32004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8A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DISPANGO</a:t>
            </a:r>
            <a:endParaRPr lang="en-US" sz="1000" dirty="0"/>
          </a:p>
        </p:txBody>
      </p:sp>
      <p:sp>
        <p:nvSpPr>
          <p:cNvPr id="23" name="Text 14"/>
          <p:cNvSpPr/>
          <p:nvPr/>
        </p:nvSpPr>
        <p:spPr>
          <a:xfrm>
            <a:off x="8247888" y="3566160"/>
            <a:ext cx="2011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 — car lockout
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F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back: (416) 555-0142
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F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Where: Queen St W &amp; Bathurst
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F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Name: Marcus
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F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Notes: keys locked in running car, toddler inside.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84048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36576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Dispango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640080" y="10515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locksmiths choose Dispango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640080" y="2331720"/>
            <a:ext cx="3474720" cy="1600200"/>
          </a:xfrm>
          <a:prstGeom prst="roundRect">
            <a:avLst>
              <a:gd name="adj" fmla="val 5714"/>
            </a:avLst>
          </a:prstGeom>
          <a:solidFill>
            <a:srgbClr val="F4F8FD"/>
          </a:solidFill>
          <a:ln w="12700">
            <a:solidFill>
              <a:srgbClr val="E7EDF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96112" y="2624328"/>
            <a:ext cx="621792" cy="6217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7EDF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2770632"/>
            <a:ext cx="329184" cy="32918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691640" y="258775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 every lead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1691640" y="29718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at 2am, on a job, or while driving — without picking up.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343400" y="2331720"/>
            <a:ext cx="3474720" cy="1600200"/>
          </a:xfrm>
          <a:prstGeom prst="roundRect">
            <a:avLst>
              <a:gd name="adj" fmla="val 5714"/>
            </a:avLst>
          </a:prstGeom>
          <a:solidFill>
            <a:srgbClr val="F4F8FD"/>
          </a:solidFill>
          <a:ln w="12700">
            <a:solidFill>
              <a:srgbClr val="E7EDF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99432" y="2624328"/>
            <a:ext cx="621792" cy="6217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7EDF6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736" y="2770632"/>
            <a:ext cx="329184" cy="32918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394960" y="258775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Keeps your number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5394960" y="29718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with the number already on your truck and your ads.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8046720" y="2331720"/>
            <a:ext cx="3474720" cy="1600200"/>
          </a:xfrm>
          <a:prstGeom prst="roundRect">
            <a:avLst>
              <a:gd name="adj" fmla="val 5714"/>
            </a:avLst>
          </a:prstGeom>
          <a:solidFill>
            <a:srgbClr val="F4F8FD"/>
          </a:solidFill>
          <a:ln w="12700">
            <a:solidFill>
              <a:srgbClr val="E7EDF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02752" y="2624328"/>
            <a:ext cx="621792" cy="6217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7EDF6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9056" y="2770632"/>
            <a:ext cx="329184" cy="32918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098280" y="258775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Sounds human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9098280" y="29718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natural voice that asks the right questions, not a robot.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640080" y="4114800"/>
            <a:ext cx="3474720" cy="1600200"/>
          </a:xfrm>
          <a:prstGeom prst="roundRect">
            <a:avLst>
              <a:gd name="adj" fmla="val 5714"/>
            </a:avLst>
          </a:prstGeom>
          <a:solidFill>
            <a:srgbClr val="F4F8FD"/>
          </a:solidFill>
          <a:ln w="12700">
            <a:solidFill>
              <a:srgbClr val="E7EDF6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896112" y="4407408"/>
            <a:ext cx="621792" cy="6217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7EDF6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4553712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691640" y="43708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Filters the junk</a:t>
            </a:r>
            <a:endParaRPr lang="en-US" sz="1500" dirty="0"/>
          </a:p>
        </p:txBody>
      </p:sp>
      <p:sp>
        <p:nvSpPr>
          <p:cNvPr id="24" name="Text 17"/>
          <p:cNvSpPr/>
          <p:nvPr/>
        </p:nvSpPr>
        <p:spPr>
          <a:xfrm>
            <a:off x="1691640" y="47548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numbers and robocalls handled — you only hear real jobs.</a:t>
            </a:r>
            <a:endParaRPr lang="en-US" sz="1150" dirty="0"/>
          </a:p>
        </p:txBody>
      </p:sp>
      <p:sp>
        <p:nvSpPr>
          <p:cNvPr id="25" name="Shape 18"/>
          <p:cNvSpPr/>
          <p:nvPr/>
        </p:nvSpPr>
        <p:spPr>
          <a:xfrm>
            <a:off x="4343400" y="4114800"/>
            <a:ext cx="3474720" cy="1600200"/>
          </a:xfrm>
          <a:prstGeom prst="roundRect">
            <a:avLst>
              <a:gd name="adj" fmla="val 5714"/>
            </a:avLst>
          </a:prstGeom>
          <a:solidFill>
            <a:srgbClr val="F4F8FD"/>
          </a:solidFill>
          <a:ln w="12700">
            <a:solidFill>
              <a:srgbClr val="E7EDF6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4599432" y="4407408"/>
            <a:ext cx="621792" cy="6217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7EDF6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5736" y="4553712"/>
            <a:ext cx="329184" cy="32918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5394960" y="43708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Cheaper than a service</a:t>
            </a:r>
            <a:endParaRPr lang="en-US" sz="1500" dirty="0"/>
          </a:p>
        </p:txBody>
      </p:sp>
      <p:sp>
        <p:nvSpPr>
          <p:cNvPr id="29" name="Text 21"/>
          <p:cNvSpPr/>
          <p:nvPr/>
        </p:nvSpPr>
        <p:spPr>
          <a:xfrm>
            <a:off x="5394960" y="47548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monthly rate. No per-minute operators, no voicemail tag.</a:t>
            </a:r>
            <a:endParaRPr lang="en-US" sz="1150" dirty="0"/>
          </a:p>
        </p:txBody>
      </p:sp>
      <p:sp>
        <p:nvSpPr>
          <p:cNvPr id="30" name="Shape 22"/>
          <p:cNvSpPr/>
          <p:nvPr/>
        </p:nvSpPr>
        <p:spPr>
          <a:xfrm>
            <a:off x="8046720" y="4114800"/>
            <a:ext cx="3474720" cy="1600200"/>
          </a:xfrm>
          <a:prstGeom prst="roundRect">
            <a:avLst>
              <a:gd name="adj" fmla="val 5714"/>
            </a:avLst>
          </a:prstGeom>
          <a:solidFill>
            <a:srgbClr val="F4F8FD"/>
          </a:solidFill>
          <a:ln w="12700">
            <a:solidFill>
              <a:srgbClr val="E7EDF6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8302752" y="4407408"/>
            <a:ext cx="621792" cy="6217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7EDF6"/>
            </a:solidFill>
            <a:prstDash val="solid"/>
          </a:ln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49056" y="4553712"/>
            <a:ext cx="329184" cy="329184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9098280" y="43708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in a day</a:t>
            </a:r>
            <a:endParaRPr lang="en-US" sz="1500" dirty="0"/>
          </a:p>
        </p:txBody>
      </p:sp>
      <p:sp>
        <p:nvSpPr>
          <p:cNvPr id="34" name="Text 25"/>
          <p:cNvSpPr/>
          <p:nvPr/>
        </p:nvSpPr>
        <p:spPr>
          <a:xfrm>
            <a:off x="9098280" y="47548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handle setup. Forward your calls and leads start arriving.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84048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36576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Dispango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640080" y="10515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caught job pays for the month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640080" y="210312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doesn't have to catch every call — just a few you'd have lost. The math works on the first one.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3063240"/>
            <a:ext cx="33832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7EDF6"/>
            </a:solidFill>
            <a:prstDash val="solid"/>
          </a:ln>
          <a:effectLst>
            <a:outerShdw sx="100000" sy="100000" kx="0" ky="0" algn="bl" rotWithShape="0" blurRad="114300" dist="38100" dir="5400000">
              <a:srgbClr val="0C1726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34290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2F6B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$150–$250</a:t>
            </a:r>
            <a:endParaRPr lang="en-US" sz="3300" dirty="0"/>
          </a:p>
        </p:txBody>
      </p:sp>
      <p:sp>
        <p:nvSpPr>
          <p:cNvPr id="8" name="Text 5"/>
          <p:cNvSpPr/>
          <p:nvPr/>
        </p:nvSpPr>
        <p:spPr>
          <a:xfrm>
            <a:off x="914400" y="43891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value of one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after-hours lockout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251960" y="3063240"/>
            <a:ext cx="33832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7EDF6"/>
            </a:solidFill>
            <a:prstDash val="solid"/>
          </a:ln>
          <a:effectLst>
            <a:outerShdw sx="100000" sy="100000" kx="0" ky="0" algn="bl" rotWithShape="0" blurRad="114300" dist="38100" dir="5400000">
              <a:srgbClr val="0C1726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434840" y="34290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2F6B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2–3 jobs</a:t>
            </a:r>
            <a:endParaRPr lang="en-US" sz="3300" dirty="0"/>
          </a:p>
        </p:txBody>
      </p:sp>
      <p:sp>
        <p:nvSpPr>
          <p:cNvPr id="11" name="Text 8"/>
          <p:cNvSpPr/>
          <p:nvPr/>
        </p:nvSpPr>
        <p:spPr>
          <a:xfrm>
            <a:off x="4526280" y="43891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month is all it takes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pay for itself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863840" y="3063240"/>
            <a:ext cx="33832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7EDF6"/>
            </a:solidFill>
            <a:prstDash val="solid"/>
          </a:ln>
          <a:effectLst>
            <a:outerShdw sx="100000" sy="100000" kx="0" ky="0" algn="bl" rotWithShape="0" blurRad="114300" dist="38100" dir="5400000">
              <a:srgbClr val="0C1726">
                <a:alpha val="1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046720" y="34290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2F6B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rest</a:t>
            </a:r>
            <a:endParaRPr lang="en-US" sz="3300" dirty="0"/>
          </a:p>
        </p:txBody>
      </p:sp>
      <p:sp>
        <p:nvSpPr>
          <p:cNvPr id="14" name="Text 11"/>
          <p:cNvSpPr/>
          <p:nvPr/>
        </p:nvSpPr>
        <p:spPr>
          <a:xfrm>
            <a:off x="8138160" y="43891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profit you were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losing to voicemail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84048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36576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Dispango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640080" y="10515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Simple, flat monthly pricing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640080" y="2103120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per-call charges. No long contracts. One predictable price — and a single missed job usually covers the month.</a:t>
            </a:r>
            <a:endParaRPr lang="en-US" sz="16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703320"/>
            <a:ext cx="274320" cy="2743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51560" y="36576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 your calls 24/7</a:t>
            </a:r>
            <a:endParaRPr lang="en-US" sz="14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206240"/>
            <a:ext cx="274320" cy="27432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051560" y="41605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Captures &amp; texts every lead</a:t>
            </a:r>
            <a:endParaRPr lang="en-US" sz="145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709160"/>
            <a:ext cx="274320" cy="27432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051560" y="46634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Returning-caller memory</a:t>
            </a:r>
            <a:endParaRPr lang="en-US" sz="145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5212080"/>
            <a:ext cx="274320" cy="27432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051560" y="51663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&amp; support included</a:t>
            </a:r>
            <a:endParaRPr lang="en-US" sz="1450" dirty="0"/>
          </a:p>
        </p:txBody>
      </p:sp>
      <p:sp>
        <p:nvSpPr>
          <p:cNvPr id="14" name="Shape 7"/>
          <p:cNvSpPr/>
          <p:nvPr/>
        </p:nvSpPr>
        <p:spPr>
          <a:xfrm>
            <a:off x="7315200" y="2194560"/>
            <a:ext cx="3840480" cy="3566160"/>
          </a:xfrm>
          <a:prstGeom prst="roundRect">
            <a:avLst>
              <a:gd name="adj" fmla="val 4103"/>
            </a:avLst>
          </a:prstGeom>
          <a:solidFill>
            <a:srgbClr val="0C1726"/>
          </a:solidFill>
          <a:ln/>
          <a:effectLst>
            <a:outerShdw sx="100000" sy="100000" kx="0" ky="0" algn="bl" rotWithShape="0" blurRad="114300" dist="38100" dir="5400000">
              <a:srgbClr val="0C1726">
                <a:alpha val="10000"/>
              </a:srgbClr>
            </a:outerShdw>
          </a:effectLst>
        </p:spPr>
      </p:sp>
      <p:sp>
        <p:nvSpPr>
          <p:cNvPr id="15" name="Text 8"/>
          <p:cNvSpPr/>
          <p:nvPr/>
        </p:nvSpPr>
        <p:spPr>
          <a:xfrm>
            <a:off x="7680960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Locksmith plan</a:t>
            </a:r>
            <a:endParaRPr lang="en-US" sz="1400" dirty="0"/>
          </a:p>
        </p:txBody>
      </p:sp>
      <p:sp>
        <p:nvSpPr>
          <p:cNvPr id="16" name="Text 9"/>
          <p:cNvSpPr/>
          <p:nvPr/>
        </p:nvSpPr>
        <p:spPr>
          <a:xfrm>
            <a:off x="7680960" y="29718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$XXX</a:t>
            </a:r>
            <a:pPr indent="0" marL="0">
              <a:buNone/>
            </a:pPr>
            <a:r>
              <a:rPr lang="en-US" sz="180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/mo</a:t>
            </a:r>
            <a:endParaRPr lang="en-US" sz="4600" dirty="0"/>
          </a:p>
        </p:txBody>
      </p:sp>
      <p:sp>
        <p:nvSpPr>
          <p:cNvPr id="17" name="Text 10"/>
          <p:cNvSpPr/>
          <p:nvPr/>
        </p:nvSpPr>
        <p:spPr>
          <a:xfrm>
            <a:off x="7680960" y="39776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your price here — replace before presenting.</a:t>
            </a:r>
            <a:endParaRPr lang="en-US" sz="1100" dirty="0"/>
          </a:p>
        </p:txBody>
      </p:sp>
      <p:sp>
        <p:nvSpPr>
          <p:cNvPr id="18" name="Shape 11"/>
          <p:cNvSpPr/>
          <p:nvPr/>
        </p:nvSpPr>
        <p:spPr>
          <a:xfrm>
            <a:off x="7680960" y="4754880"/>
            <a:ext cx="3108960" cy="640080"/>
          </a:xfrm>
          <a:prstGeom prst="roundRect">
            <a:avLst>
              <a:gd name="adj" fmla="val 14286"/>
            </a:avLst>
          </a:prstGeom>
          <a:solidFill>
            <a:srgbClr val="2F6BED"/>
          </a:solidFill>
          <a:ln/>
        </p:spPr>
      </p:sp>
      <p:sp>
        <p:nvSpPr>
          <p:cNvPr id="19" name="Text 12"/>
          <p:cNvSpPr/>
          <p:nvPr/>
        </p:nvSpPr>
        <p:spPr>
          <a:xfrm>
            <a:off x="7680960" y="47548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 a demo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84048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36576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Dispango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640080" y="10515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 it yourself — then decide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640080" y="2148840"/>
            <a:ext cx="5760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take our word for it. Call the demo line right now, act like a locked-out customer, and hear exactly what your callers would.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3657600"/>
            <a:ext cx="5760720" cy="1234440"/>
          </a:xfrm>
          <a:prstGeom prst="roundRect">
            <a:avLst>
              <a:gd name="adj" fmla="val 8889"/>
            </a:avLst>
          </a:prstGeom>
          <a:solidFill>
            <a:srgbClr val="0C1726"/>
          </a:solidFill>
          <a:ln/>
          <a:effectLst>
            <a:outerShdw sx="100000" sy="100000" kx="0" ky="0" algn="bl" rotWithShape="0" blurRad="114300" dist="38100" dir="5400000">
              <a:srgbClr val="0C1726">
                <a:alpha val="10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4069080"/>
            <a:ext cx="411480" cy="411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691640" y="3767328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the live demo
</a:t>
            </a:r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(000) 000-0000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7315200" y="2194560"/>
            <a:ext cx="3840480" cy="3886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7EDF6"/>
            </a:solidFill>
            <a:prstDash val="solid"/>
          </a:ln>
          <a:effectLst>
            <a:outerShdw sx="100000" sy="100000" kx="0" ky="0" algn="bl" rotWithShape="0" blurRad="114300" dist="38100" dir="5400000">
              <a:srgbClr val="0C1726">
                <a:alpha val="10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7680960" y="254203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risk to try</a:t>
            </a:r>
            <a:endParaRPr lang="en-US" sz="17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3246120"/>
            <a:ext cx="274320" cy="2743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065008" y="3182112"/>
            <a:ext cx="2999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trial — hear it on your own number</a:t>
            </a:r>
            <a:endParaRPr lang="en-US" sz="12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0" y="3904488"/>
            <a:ext cx="274320" cy="27432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065008" y="3840480"/>
            <a:ext cx="2999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do the setup for you</a:t>
            </a:r>
            <a:endParaRPr lang="en-US" sz="125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0" y="4562856"/>
            <a:ext cx="274320" cy="27432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8065008" y="4498848"/>
            <a:ext cx="2999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your number, cancel anytime</a:t>
            </a:r>
            <a:endParaRPr lang="en-US" sz="1250" dirty="0"/>
          </a:p>
        </p:txBody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0960" y="5221224"/>
            <a:ext cx="274320" cy="274320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8065008" y="5157216"/>
            <a:ext cx="2999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long contract, no per-call fees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84048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36576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Dispango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640080" y="10515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and running in a day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640080" y="2560320"/>
            <a:ext cx="3474720" cy="2743200"/>
          </a:xfrm>
          <a:prstGeom prst="roundRect">
            <a:avLst>
              <a:gd name="adj" fmla="val 4000"/>
            </a:avLst>
          </a:prstGeom>
          <a:solidFill>
            <a:srgbClr val="F4F8FD"/>
          </a:solidFill>
          <a:ln w="12700">
            <a:solidFill>
              <a:srgbClr val="E7EDF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60120" y="2880360"/>
            <a:ext cx="731520" cy="731520"/>
          </a:xfrm>
          <a:prstGeom prst="ellipse">
            <a:avLst/>
          </a:prstGeom>
          <a:solidFill>
            <a:srgbClr val="2F6BED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3063240"/>
            <a:ext cx="365760" cy="3657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828800" y="2971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6B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960120" y="37947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set it up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96012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configure your AI receptionist and dispatch number for you.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343400" y="2560320"/>
            <a:ext cx="3474720" cy="2743200"/>
          </a:xfrm>
          <a:prstGeom prst="roundRect">
            <a:avLst>
              <a:gd name="adj" fmla="val 4000"/>
            </a:avLst>
          </a:prstGeom>
          <a:solidFill>
            <a:srgbClr val="F4F8FD"/>
          </a:solidFill>
          <a:ln w="12700">
            <a:solidFill>
              <a:srgbClr val="E7EDF6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663440" y="2880360"/>
            <a:ext cx="731520" cy="731520"/>
          </a:xfrm>
          <a:prstGeom prst="ellipse">
            <a:avLst/>
          </a:prstGeom>
          <a:solidFill>
            <a:srgbClr val="2F6BED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3063240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532120" y="2971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6B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4663440" y="37947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forward your calls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quick setting with your carrier — your number stays the same.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8046720" y="2560320"/>
            <a:ext cx="3474720" cy="2743200"/>
          </a:xfrm>
          <a:prstGeom prst="roundRect">
            <a:avLst>
              <a:gd name="adj" fmla="val 4000"/>
            </a:avLst>
          </a:prstGeom>
          <a:solidFill>
            <a:srgbClr val="F4F8FD"/>
          </a:solidFill>
          <a:ln w="12700">
            <a:solidFill>
              <a:srgbClr val="E7EDF6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8366760" y="2880360"/>
            <a:ext cx="731520" cy="731520"/>
          </a:xfrm>
          <a:prstGeom prst="ellipse">
            <a:avLst/>
          </a:prstGeom>
          <a:solidFill>
            <a:srgbClr val="2F6BED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3063240"/>
            <a:ext cx="365760" cy="36576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235440" y="2971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6B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8366760" y="37947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Leads start arriving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836676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Missed calls turn into texts on your phone, starting the same day.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84368" y="1371600"/>
            <a:ext cx="822960" cy="8229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468880"/>
            <a:ext cx="121916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get your phone answered.</a:t>
            </a:r>
            <a:endParaRPr lang="en-US" sz="3800" dirty="0"/>
          </a:p>
        </p:txBody>
      </p:sp>
      <p:sp>
        <p:nvSpPr>
          <p:cNvPr id="4" name="Text 1"/>
          <p:cNvSpPr/>
          <p:nvPr/>
        </p:nvSpPr>
        <p:spPr>
          <a:xfrm>
            <a:off x="1371600" y="3383280"/>
            <a:ext cx="94484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a free trial demo and see Dispango handle a real call.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4724248" y="4160520"/>
            <a:ext cx="2743200" cy="713232"/>
          </a:xfrm>
          <a:prstGeom prst="roundRect">
            <a:avLst>
              <a:gd name="adj" fmla="val 15385"/>
            </a:avLst>
          </a:prstGeom>
          <a:solidFill>
            <a:srgbClr val="2F6BED"/>
          </a:solidFill>
          <a:ln/>
        </p:spPr>
      </p:sp>
      <p:sp>
        <p:nvSpPr>
          <p:cNvPr id="6" name="Text 3"/>
          <p:cNvSpPr/>
          <p:nvPr/>
        </p:nvSpPr>
        <p:spPr>
          <a:xfrm>
            <a:off x="4724248" y="4160520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 a demo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0" y="521208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hello@dispango.example   ·   (000) 000-0000   ·   dispango.com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Dispango — demo deck</dc:title>
  <dc:subject>PptxGenJS Presentation</dc:subject>
  <dc:creator>Dispango</dc:creator>
  <cp:lastModifiedBy>Dispango</cp:lastModifiedBy>
  <cp:revision>1</cp:revision>
  <dcterms:created xsi:type="dcterms:W3CDTF">2026-07-07T16:16:43Z</dcterms:created>
  <dcterms:modified xsi:type="dcterms:W3CDTF">2026-07-07T16:16:43Z</dcterms:modified>
</cp:coreProperties>
</file>