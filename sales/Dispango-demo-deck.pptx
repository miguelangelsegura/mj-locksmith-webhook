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open. 'Thanks for the time — in the next 15 minutes I'll show you exactly how Dispango answers the calls you're missing and turns them into texted leads.' Confirm their name/shop and that they do emergency/after-hours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visceral: 'When someone's locked out at 2am, do they leave a voicemail and wait? No — they call the next number.' Ask: 'Roughly how many calls a week do you think you miss after hours or when you're on a job?' Let them say the number — it sells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one-liner. Say it slowly. 'It's not voicemail and it's not a call centre — it's an AI that actually has the conversation and hands you a ready-to-work lead.' Then transition: 'Here's how it works.'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one sentence each. Emphasise step 3 — 'in seconds' — and step 4, the memory: 'A repeat customer calls and it already knows them. That's the kind of service that keeps people off Google next time.'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'aha' slide — let it land. 'That text arrived 8 seconds after the call ended, at 2am, while you were asleep. You wake up, see a real job with an address, and call Marcus back before your competitor's voicemail even gets checked.'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all six — hit the two that matched their pain from slide 2. If they said after-hours, lead with 'catch every lead.' If they worried about robots, lead with 'sounds human.' Make it about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PRICE — set $XXX before any real call. Anchor on value, not cost: 'One after-hours lockout is usually $150–$250. The plan pays for itself the first job you'd have otherwise missed.' Then go quiet and let them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a real testimonial or even a screenshot of a happy text from a customer, use it here instead. Until then, you can skip this slide live or speak to early results. Never present fabricated quotes as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 the #1 objection — 'this sounds complicated.' It isn't. 'We do the setup, you flip one forwarding setting, and you're getting leads the same day. Your number and your workflow don't change.'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 next step: 'I'll set you up with a quick trial so you can hear it answer your own number.' Confirm the follow-up and put time on the calendar before you hang up. Replace contact details on this slide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068" y="141732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974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1371600" y="361188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receptionist that answers every call your shop misses.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371600" y="434340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locksmiths  ·  24/7 call answering &amp; instant lead dispatch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missed call is a job that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 to someone else.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65176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Locksmith calls are urgent — lockouts, break-ins, lost keys. They come after hours and while you're already on a job. Callers rarely leave a voicemail. They just dial the next shop on Google.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0" y="2514600"/>
            <a:ext cx="1783080" cy="2057400"/>
          </a:xfrm>
          <a:prstGeom prst="roundRect">
            <a:avLst>
              <a:gd name="adj" fmla="val 6154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28803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720840" y="3794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lockouts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happen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458200" y="2514600"/>
            <a:ext cx="1783080" cy="2057400"/>
          </a:xfrm>
          <a:prstGeom prst="roundRect">
            <a:avLst>
              <a:gd name="adj" fmla="val 6154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28803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595360" y="3794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answer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 the job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332720" y="2514600"/>
            <a:ext cx="1783080" cy="2057400"/>
          </a:xfrm>
          <a:prstGeom prst="roundRect">
            <a:avLst>
              <a:gd name="adj" fmla="val 6154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0" y="28803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A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10469880" y="3794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voicemails most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callers leave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6B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74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Dispango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278892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receptionist that answers in a natural voice, captures the job, and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texts the lead to your phone in seconds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24/7, even when your hands are full.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receptionist that never sleeps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4688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  <a:effectLst>
            <a:outerShdw sx="100000" sy="100000" kx="0" ky="0" algn="bl" rotWithShape="0" blurRad="114300" dist="38100" dir="5400000">
              <a:srgbClr val="0C1726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788920"/>
            <a:ext cx="713232" cy="71323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962656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231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932688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comes in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32688" y="4114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busy or it's after hours, Dispango answers your number.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401568" y="24688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  <a:effectLst>
            <a:outerShdw sx="100000" sy="100000" kx="0" ky="0" algn="bl" rotWithShape="0" blurRad="114300" dist="38100" dir="5400000">
              <a:srgbClr val="0C1726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21608" y="2788920"/>
            <a:ext cx="713232" cy="71323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296265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8464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3694176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gathers the job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694176" y="4114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voice — name, location, the problem, how urgent it is.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63056" y="24688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  <a:effectLst>
            <a:outerShdw sx="100000" sy="100000" kx="0" ky="0" algn="bl" rotWithShape="0" blurRad="114300" dist="38100" dir="5400000">
              <a:srgbClr val="0C1726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83096" y="2788920"/>
            <a:ext cx="713232" cy="71323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962656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46136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6455664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text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55664" y="4114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lead lands on your phone in seconds. Call back or roll out.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924544" y="246888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  <a:effectLst>
            <a:outerShdw sx="100000" sy="100000" kx="0" ky="0" algn="bl" rotWithShape="0" blurRad="114300" dist="38100" dir="5400000">
              <a:srgbClr val="0C1726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244584" y="2788920"/>
            <a:ext cx="713232" cy="713232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2962656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707624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7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0"/>
          <p:cNvSpPr/>
          <p:nvPr/>
        </p:nvSpPr>
        <p:spPr>
          <a:xfrm>
            <a:off x="9217152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remembers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9217152" y="4114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callers are greeted by name. No re-explaining the job.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lands on your phone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148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dashboard to check, no app to learn. Just a text with everything you need to win the job.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calling and their number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1772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job is and how urgent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2064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5074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summary in plain English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7680960" y="1417320"/>
            <a:ext cx="3108960" cy="4937760"/>
          </a:xfrm>
          <a:prstGeom prst="roundRect">
            <a:avLst>
              <a:gd name="adj" fmla="val 10294"/>
            </a:avLst>
          </a:prstGeom>
          <a:solidFill>
            <a:srgbClr val="0A1320"/>
          </a:solidFill>
          <a:ln/>
          <a:effectLst>
            <a:outerShdw sx="100000" sy="100000" kx="0" ky="0" algn="bl" rotWithShape="0" blurRad="114300" dist="38100" dir="5400000">
              <a:srgbClr val="0C1726">
                <a:alpha val="10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7845552" y="1581912"/>
            <a:ext cx="2779776" cy="4608576"/>
          </a:xfrm>
          <a:prstGeom prst="roundRect">
            <a:avLst>
              <a:gd name="adj" fmla="val 7237"/>
            </a:avLst>
          </a:prstGeom>
          <a:solidFill>
            <a:srgbClr val="0E1A2B"/>
          </a:solidFill>
          <a:ln/>
        </p:spPr>
      </p:sp>
      <p:sp>
        <p:nvSpPr>
          <p:cNvPr id="16" name="Shape 9"/>
          <p:cNvSpPr/>
          <p:nvPr/>
        </p:nvSpPr>
        <p:spPr>
          <a:xfrm>
            <a:off x="8065008" y="1874520"/>
            <a:ext cx="2340864" cy="914400"/>
          </a:xfrm>
          <a:prstGeom prst="roundRect">
            <a:avLst>
              <a:gd name="adj" fmla="val 12000"/>
            </a:avLst>
          </a:prstGeom>
          <a:solidFill>
            <a:srgbClr val="152538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2075688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4108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call · 2:14 AM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8641080" y="2258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E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(416) 555-0142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8065008" y="3017520"/>
            <a:ext cx="2340864" cy="2788920"/>
          </a:xfrm>
          <a:prstGeom prst="roundRect">
            <a:avLst>
              <a:gd name="adj" fmla="val 5469"/>
            </a:avLst>
          </a:prstGeom>
          <a:solidFill>
            <a:srgbClr val="1B3050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7888" y="3200400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54964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8247888" y="356616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— car lockout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F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back: (416) 555-0142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F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Queen St W &amp; Bathurst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F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Marcus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F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keys locked in running car, toddler inside.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locksmiths choose Dispango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3317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6112" y="26243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770632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587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every lead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69164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at 2am, on a job, or while driving — without picking up.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43400" y="23317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99432" y="26243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77063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2587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your number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3949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the number already on your truck and your ads.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46720" y="23317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02752" y="262432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77063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98280" y="2587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Sounds human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0982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natural voice that asks the right questions, not a robot.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41148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96112" y="440740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553712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4370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the junk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1691640" y="4754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numbers and robocalls handled — you only hear real jobs.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343400" y="41148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99432" y="440740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4553712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94960" y="4370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than a service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5394960" y="4754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monthly rate. No per-minute operators, no voicemail tag.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046720" y="41148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02752" y="4407408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4553712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098280" y="4370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a day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9098280" y="4754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handle setup. Forward your calls and leads start arriving.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flat monthly pricing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per-call charges. No long contracts. One predictable price — and a single missed job usually covers the month.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033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your calls 24/7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&amp; texts every lead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0916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4663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Returning-caller memory</a:t>
            </a:r>
            <a:endParaRPr lang="en-US" sz="14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2120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5166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&amp; support included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7315200" y="2194560"/>
            <a:ext cx="3840480" cy="3566160"/>
          </a:xfrm>
          <a:prstGeom prst="roundRect">
            <a:avLst>
              <a:gd name="adj" fmla="val 4103"/>
            </a:avLst>
          </a:prstGeom>
          <a:solidFill>
            <a:srgbClr val="0C1726"/>
          </a:solidFill>
          <a:ln/>
          <a:effectLst>
            <a:outerShdw sx="100000" sy="100000" kx="0" ky="0" algn="bl" rotWithShape="0" blurRad="114300" dist="38100" dir="5400000">
              <a:srgbClr val="0C1726">
                <a:alpha val="10000"/>
              </a:srgbClr>
            </a:outerShdw>
          </a:effectLst>
        </p:spPr>
      </p:sp>
      <p:sp>
        <p:nvSpPr>
          <p:cNvPr id="15" name="Text 8"/>
          <p:cNvSpPr/>
          <p:nvPr/>
        </p:nvSpPr>
        <p:spPr>
          <a:xfrm>
            <a:off x="76809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Locksmith plan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768096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$XXX</a:t>
            </a:r>
            <a:pPr indent="0" marL="0">
              <a:buNone/>
            </a:pPr>
            <a:r>
              <a:rPr lang="en-US" sz="1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4600" dirty="0"/>
          </a:p>
        </p:txBody>
      </p:sp>
      <p:sp>
        <p:nvSpPr>
          <p:cNvPr id="17" name="Text 10"/>
          <p:cNvSpPr/>
          <p:nvPr/>
        </p:nvSpPr>
        <p:spPr>
          <a:xfrm>
            <a:off x="768096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price here — replace before presenting.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7680960" y="475488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2F6BED"/>
          </a:solidFill>
          <a:ln/>
        </p:spPr>
      </p:sp>
      <p:sp>
        <p:nvSpPr>
          <p:cNvPr id="19" name="Text 12"/>
          <p:cNvSpPr/>
          <p:nvPr/>
        </p:nvSpPr>
        <p:spPr>
          <a:xfrm>
            <a:off x="7680960" y="4754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demo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working locksmiths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drop in real customer quotes once a few shops are live. Social proof is the strongest trust lever on a sales call.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  <a:effectLst>
            <a:outerShdw sx="100000" sy="100000" kx="0" ky="0" algn="bl" rotWithShape="0" blurRad="114300" dist="38100" dir="5400000">
              <a:srgbClr val="0C1726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3832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“Replace with a real customer quote — ideally a specific result, like jobs won after hours.”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5029200"/>
            <a:ext cx="548640" cy="548640"/>
          </a:xfrm>
          <a:prstGeom prst="ellipse">
            <a:avLst/>
          </a:prstGeom>
          <a:solidFill>
            <a:srgbClr val="EEF3FE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4592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customer name
</a:t>
            </a:r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name · City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2697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  <a:effectLst>
            <a:outerShdw sx="100000" sy="100000" kx="0" ky="0" algn="bl" rotWithShape="0" blurRad="114300" dist="38100" dir="5400000">
              <a:srgbClr val="0C1726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63440" y="33832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“Replace with a real customer quote — ideally a specific result, like jobs won after hours.”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663440" y="5029200"/>
            <a:ext cx="548640" cy="548640"/>
          </a:xfrm>
          <a:prstGeom prst="ellipse">
            <a:avLst/>
          </a:prstGeom>
          <a:solidFill>
            <a:srgbClr val="EEF3FE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4924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customer name
</a:t>
            </a:r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name · City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46720" y="2697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EDF6"/>
            </a:solidFill>
            <a:prstDash val="solid"/>
          </a:ln>
          <a:effectLst>
            <a:outerShdw sx="100000" sy="100000" kx="0" ky="0" algn="bl" rotWithShape="0" blurRad="114300" dist="38100" dir="5400000">
              <a:srgbClr val="0C1726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6676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66760" y="33832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“Replace with a real customer quote — ideally a specific result, like jobs won after hours.”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366760" y="5029200"/>
            <a:ext cx="548640" cy="548640"/>
          </a:xfrm>
          <a:prstGeom prst="ellipse">
            <a:avLst/>
          </a:prstGeom>
          <a:solidFill>
            <a:srgbClr val="EEF3FE"/>
          </a:solidFill>
          <a:ln/>
        </p:spPr>
      </p:sp>
      <p:sp>
        <p:nvSpPr>
          <p:cNvPr id="22" name="Text 19"/>
          <p:cNvSpPr/>
          <p:nvPr/>
        </p:nvSpPr>
        <p:spPr>
          <a:xfrm>
            <a:off x="836676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05256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customer name
</a:t>
            </a:r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name · City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Dispango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and running in a day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56032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2880360"/>
            <a:ext cx="731520" cy="731520"/>
          </a:xfrm>
          <a:prstGeom prst="ellipse">
            <a:avLst/>
          </a:prstGeom>
          <a:solidFill>
            <a:srgbClr val="2F6BE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063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6012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set it 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6012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configure your AI receptionist and dispatch number for you.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43400" y="256032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63440" y="2880360"/>
            <a:ext cx="731520" cy="731520"/>
          </a:xfrm>
          <a:prstGeom prst="ellipse">
            <a:avLst/>
          </a:prstGeom>
          <a:solidFill>
            <a:srgbClr val="2F6BE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0632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66344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forward your calls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setting with your carrier — your number stays the same.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046720" y="256032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4F8FD"/>
          </a:solidFill>
          <a:ln w="12700">
            <a:solidFill>
              <a:srgbClr val="E7EDF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66760" y="2880360"/>
            <a:ext cx="731520" cy="731520"/>
          </a:xfrm>
          <a:prstGeom prst="ellipse">
            <a:avLst/>
          </a:prstGeom>
          <a:solidFill>
            <a:srgbClr val="2F6BE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30632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3544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36676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start arriving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36676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calls turn into texts on your phone, starting the same day.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13716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get your phone answered.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371600" y="338328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free trial demo and see Dispango handle a real call.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724248" y="4160520"/>
            <a:ext cx="2743200" cy="713232"/>
          </a:xfrm>
          <a:prstGeom prst="roundRect">
            <a:avLst>
              <a:gd name="adj" fmla="val 15385"/>
            </a:avLst>
          </a:prstGeom>
          <a:solidFill>
            <a:srgbClr val="2F6BED"/>
          </a:solidFill>
          <a:ln/>
        </p:spPr>
      </p:sp>
      <p:sp>
        <p:nvSpPr>
          <p:cNvPr id="6" name="Text 3"/>
          <p:cNvSpPr/>
          <p:nvPr/>
        </p:nvSpPr>
        <p:spPr>
          <a:xfrm>
            <a:off x="4724248" y="41605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demo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hello@dispango.example   ·   (000) 000-0000   ·   dispango.com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Dispango — demo deck</dc:title>
  <dc:subject>PptxGenJS Presentation</dc:subject>
  <dc:creator>Dispango</dc:creator>
  <cp:lastModifiedBy>Dispango</cp:lastModifiedBy>
  <cp:revision>1</cp:revision>
  <dcterms:created xsi:type="dcterms:W3CDTF">2026-06-26T11:10:13Z</dcterms:created>
  <dcterms:modified xsi:type="dcterms:W3CDTF">2026-06-26T11:10:13Z</dcterms:modified>
</cp:coreProperties>
</file>