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315" r:id="rId2"/>
    <p:sldId id="312" r:id="rId3"/>
    <p:sldId id="310" r:id="rId4"/>
    <p:sldId id="299" r:id="rId5"/>
    <p:sldId id="301" r:id="rId6"/>
    <p:sldId id="303" r:id="rId7"/>
    <p:sldId id="305" r:id="rId8"/>
    <p:sldId id="308" r:id="rId9"/>
    <p:sldId id="314" r:id="rId10"/>
  </p:sld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424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60164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7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008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15568" y="621792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48640" y="24688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Playbook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48640" y="35661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EF3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turn service contractors into customers: find them, call them, run the demo, close, and get them live.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5334000"/>
            <a:ext cx="457200" cy="457200"/>
          </a:xfrm>
          <a:prstGeom prst="ellipse">
            <a:avLst/>
          </a:prstGeom>
          <a:solidFill>
            <a:srgbClr val="2F6B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48640" y="5334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188720" y="5334000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6096000"/>
            <a:ext cx="457200" cy="457200"/>
          </a:xfrm>
          <a:prstGeom prst="ellipse">
            <a:avLst/>
          </a:prstGeom>
          <a:solidFill>
            <a:srgbClr val="2F6B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48640" y="609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188720" y="6096000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Call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48640" y="6858000"/>
            <a:ext cx="457200" cy="457200"/>
          </a:xfrm>
          <a:prstGeom prst="ellipse">
            <a:avLst/>
          </a:prstGeom>
          <a:solidFill>
            <a:srgbClr val="2F6B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48640" y="6858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188720" y="6858000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&amp; Trial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7620000"/>
            <a:ext cx="457200" cy="457200"/>
          </a:xfrm>
          <a:prstGeom prst="ellipse">
            <a:avLst/>
          </a:prstGeom>
          <a:solidFill>
            <a:srgbClr val="2F6B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548640" y="7620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188720" y="7620000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48640" y="8382000"/>
            <a:ext cx="457200" cy="457200"/>
          </a:xfrm>
          <a:prstGeom prst="ellipse">
            <a:avLst/>
          </a:prstGeom>
          <a:solidFill>
            <a:srgbClr val="2F6B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48640" y="838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188720" y="8382000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48640" y="9326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EF3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use only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6726904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180" y="54864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 Sales Playbook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846320" y="5486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990600"/>
            <a:ext cx="6675120" cy="12802"/>
          </a:xfrm>
          <a:prstGeom prst="rect">
            <a:avLst/>
          </a:prstGeom>
          <a:solidFill>
            <a:srgbClr val="EEF3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48640" y="111760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sales motion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548640" y="1905000"/>
            <a:ext cx="66751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stages. Each has one job: move the prospect to the next stage.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336800"/>
            <a:ext cx="762000" cy="762000"/>
          </a:xfrm>
          <a:prstGeom prst="ellipse">
            <a:avLst/>
          </a:prstGeom>
          <a:solidFill>
            <a:srgbClr val="EEF3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48640" y="23368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262890" y="3251200"/>
            <a:ext cx="133477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310640" y="2717800"/>
            <a:ext cx="716280" cy="12802"/>
          </a:xfrm>
          <a:prstGeom prst="rect">
            <a:avLst/>
          </a:prstGeom>
          <a:solidFill>
            <a:srgbClr val="EEF3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2026920" y="2336800"/>
            <a:ext cx="762000" cy="762000"/>
          </a:xfrm>
          <a:prstGeom prst="ellipse">
            <a:avLst/>
          </a:prstGeom>
          <a:solidFill>
            <a:srgbClr val="EEF3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2026920" y="23368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741170" y="3251200"/>
            <a:ext cx="133477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Call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788920" y="2717800"/>
            <a:ext cx="716280" cy="12802"/>
          </a:xfrm>
          <a:prstGeom prst="rect">
            <a:avLst/>
          </a:prstGeom>
          <a:solidFill>
            <a:srgbClr val="EEF3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3505200" y="2336800"/>
            <a:ext cx="762000" cy="762000"/>
          </a:xfrm>
          <a:prstGeom prst="ellipse">
            <a:avLst/>
          </a:prstGeom>
          <a:solidFill>
            <a:srgbClr val="EEF3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3505200" y="23368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3219450" y="3251200"/>
            <a:ext cx="133477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&amp; Trial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267200" y="2717800"/>
            <a:ext cx="716280" cy="12802"/>
          </a:xfrm>
          <a:prstGeom prst="rect">
            <a:avLst/>
          </a:prstGeom>
          <a:solidFill>
            <a:srgbClr val="EEF3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4983480" y="2336800"/>
            <a:ext cx="762000" cy="762000"/>
          </a:xfrm>
          <a:prstGeom prst="ellipse">
            <a:avLst/>
          </a:prstGeom>
          <a:solidFill>
            <a:srgbClr val="EEF3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4983480" y="23368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4697730" y="3251200"/>
            <a:ext cx="133477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745480" y="2717800"/>
            <a:ext cx="716280" cy="12802"/>
          </a:xfrm>
          <a:prstGeom prst="rect">
            <a:avLst/>
          </a:prstGeom>
          <a:solidFill>
            <a:srgbClr val="EEF3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461760" y="2336800"/>
            <a:ext cx="762000" cy="762000"/>
          </a:xfrm>
          <a:prstGeom prst="ellipse">
            <a:avLst/>
          </a:prstGeom>
          <a:solidFill>
            <a:srgbClr val="EEF3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461760" y="23368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176010" y="3251200"/>
            <a:ext cx="133477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</a:t>
            </a:r>
            <a:endParaRPr lang="en-US" sz="1100" dirty="0"/>
          </a:p>
        </p:txBody>
      </p:sp>
      <p:sp>
        <p:nvSpPr>
          <p:cNvPr id="91" name="Card91"/>
          <p:cNvSpPr/>
          <p:nvPr/>
        </p:nvSpPr>
        <p:spPr>
          <a:xfrm>
            <a:off x="548640" y="3886200"/>
            <a:ext cx="3154680" cy="5623560"/>
          </a:xfrm>
          <a:prstGeom prst="roundRect">
            <a:avLst>
              <a:gd name="adj" fmla="val 4000"/>
            </a:avLst>
          </a:prstGeom>
          <a:solidFill>
            <a:srgbClr val="EEF3F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2" name="Card92"/>
          <p:cNvSpPr/>
          <p:nvPr/>
        </p:nvSpPr>
        <p:spPr>
          <a:xfrm>
            <a:off x="4069080" y="3886200"/>
            <a:ext cx="3154680" cy="5623560"/>
          </a:xfrm>
          <a:prstGeom prst="roundRect">
            <a:avLst>
              <a:gd name="adj" fmla="val 4000"/>
            </a:avLst>
          </a:prstGeom>
          <a:solidFill>
            <a:srgbClr val="EEF3F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731520" y="4089400"/>
            <a:ext cx="279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cap="all" spc="12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Principles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731520" y="4445000"/>
            <a:ext cx="2794000" cy="20433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goal per stage: always advance to the next.</a:t>
            </a:r>
            <a:endParaRPr lang="en-US" sz="110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with their pain (missed, after-hours calls), not features.</a:t>
            </a:r>
            <a:endParaRPr lang="en-US" sz="110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every prospect's stage and outcome.</a:t>
            </a:r>
            <a:endParaRPr lang="en-US" sz="110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cold call sells the demo; the demo sells the service.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4251960" y="4089400"/>
            <a:ext cx="27990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cap="all" spc="12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we use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251960" y="4445000"/>
            <a:ext cx="2799080" cy="2581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Identify: the outreach tool + outreach/contacted.csv</a:t>
            </a:r>
            <a:endParaRPr lang="en-US" sz="110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&amp; Trial: Zoom + the Dispango demo number</a:t>
            </a:r>
            <a:endParaRPr lang="en-US" sz="110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Follow-up: the call recording + the lead-text screenshot</a:t>
            </a:r>
            <a:endParaRPr lang="en-US" sz="110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Trials &amp; onboarding: the admin tool (admin-ui → admin API)</a:t>
            </a:r>
            <a:endParaRPr lang="en-US" sz="110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Legitimacy: the dispango.com website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960204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180" y="54864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 Sales Playbook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846320" y="5486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 of 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990600"/>
            <a:ext cx="6675120" cy="12802"/>
          </a:xfrm>
          <a:prstGeom prst="rect">
            <a:avLst/>
          </a:prstGeom>
          <a:solidFill>
            <a:srgbClr val="EEF3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48640" y="111760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</a:t>
            </a:r>
            <a:r>
              <a:rPr lang="en-US" sz="3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prospects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1930400"/>
            <a:ext cx="6675120" cy="863600"/>
          </a:xfrm>
          <a:prstGeom prst="roundRect">
            <a:avLst>
              <a:gd name="adj" fmla="val 125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05180" y="1930400"/>
            <a:ext cx="616331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  </a:t>
            </a:r>
            <a:r>
              <a:rPr lang="en-US" sz="16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steady list of service businesses worth calling: locksmiths, home-service contractors, rental offices.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3048000"/>
            <a:ext cx="31546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2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THIS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3403600"/>
            <a:ext cx="3154680" cy="3235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city or region; start local and Canadian.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 Google Maps + directories for business names (search alone misses locals).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 each business's own site; grab phone, published email, hours, services.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to outreach/contacted.csv; dedup by domain and email.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Prioritize 24/7, emergency, appointment-driven, owner-run businesses.</a:t>
            </a:r>
            <a:endParaRPr lang="en-US" sz="1050" dirty="0"/>
          </a:p>
        </p:txBody>
      </p:sp>
      <p:sp>
        <p:nvSpPr>
          <p:cNvPr id="90" name="TipsCard"/>
          <p:cNvSpPr/>
          <p:nvPr/>
        </p:nvSpPr>
        <p:spPr>
          <a:xfrm>
            <a:off x="4069080" y="2946400"/>
            <a:ext cx="3154680" cy="4279900"/>
          </a:xfrm>
          <a:prstGeom prst="roundRect">
            <a:avLst>
              <a:gd name="adj" fmla="val 6000"/>
            </a:avLst>
          </a:prstGeom>
          <a:solidFill>
            <a:srgbClr val="EEF3F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246880" y="3048000"/>
            <a:ext cx="27990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2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246880" y="3403600"/>
            <a:ext cx="2799080" cy="3671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/locksmith-outreach tool to find prospects and draft emails.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conspicuously published email only, never guess info@.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one hook per prospect (after-hours claims, booking pages, reviews).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batch before you start dialing, because volume matters.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Rental offices are a strong second vertical: the agent books apartment viewings.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48640" y="7429500"/>
            <a:ext cx="6675120" cy="1308100"/>
          </a:xfrm>
          <a:prstGeom prst="roundRect">
            <a:avLst>
              <a:gd name="adj" fmla="val 5714"/>
            </a:avLst>
          </a:prstGeom>
          <a:solidFill>
            <a:srgbClr val="0C172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7632700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51890" y="75946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EF3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822960" y="7937500"/>
            <a:ext cx="6126480" cy="6454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lnSpc>
                <a:spcPts val="168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/locksmith-outreach finds shops by city, grabs their published email, and creates ready-to-send Gmail drafts. The dedup ledger is outreach/contacted.csv; reruns check the ledger first.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23525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180" y="54864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 Sales Playbook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846320" y="5486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 of 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990600"/>
            <a:ext cx="6675120" cy="12802"/>
          </a:xfrm>
          <a:prstGeom prst="rect">
            <a:avLst/>
          </a:prstGeom>
          <a:solidFill>
            <a:srgbClr val="EEF3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48640" y="111760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</a:t>
            </a:r>
            <a:r>
              <a:rPr lang="en-US" sz="3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Call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1930400"/>
            <a:ext cx="6675120" cy="863600"/>
          </a:xfrm>
          <a:prstGeom prst="roundRect">
            <a:avLst>
              <a:gd name="adj" fmla="val 125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05180" y="1930400"/>
            <a:ext cx="616331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a Zoom demo booked, ideally the same day, and nothing else.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3048000"/>
            <a:ext cx="31546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2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THIS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3403600"/>
            <a:ext cx="3154680" cy="4428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it under 10 minutes; volume wins here.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with the pain question: “When a call comes in mid-job or after hours, what happens to it?”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One-liner: it answers, captures the job, and texts you the lead, 24/7.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Tease the Zoom as value: “I’ll show you how contractors catch more jobs; you’ll test ours from your phone.”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the Zoom live: offer two times, same day first, and confirm the invite arrived. Calendly = fallback.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text the demo number: “Call this anytime. It’s what your customers would hear.”</a:t>
            </a:r>
            <a:endParaRPr lang="en-US" sz="1050" dirty="0"/>
          </a:p>
        </p:txBody>
      </p:sp>
      <p:sp>
        <p:nvSpPr>
          <p:cNvPr id="90" name="TipsCard"/>
          <p:cNvSpPr/>
          <p:nvPr/>
        </p:nvSpPr>
        <p:spPr>
          <a:xfrm>
            <a:off x="4069080" y="2946400"/>
            <a:ext cx="3154680" cy="5041900"/>
          </a:xfrm>
          <a:prstGeom prst="roundRect">
            <a:avLst>
              <a:gd name="adj" fmla="val 6000"/>
            </a:avLst>
          </a:prstGeom>
          <a:solidFill>
            <a:srgbClr val="EEF3F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246880" y="3048000"/>
            <a:ext cx="27990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2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246880" y="3403600"/>
            <a:ext cx="2799080" cy="2915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every outcome: booked / call back / not interested / no answer.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three no-answer attempts, move them to the follow-up track.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rate drops with every day of delay: same day beats tomorrow beats next week.</a:t>
            </a:r>
            <a:endParaRPr lang="en-US" sz="1050" dirty="0"/>
          </a:p>
          <a:p>
            <a:pPr marL="0" indent="0">
              <a:lnSpc>
                <a:spcPts val="1680"/>
              </a:lnSpc>
              <a:spcAft>
                <a:spcPts val="800"/>
              </a:spcAft>
              <a:buSzPct val="100000"/>
              <a:buNone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done = Zoom booked with a confirmed time, or 3 call attempts logged.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48640" y="8191500"/>
            <a:ext cx="6675120" cy="1308100"/>
          </a:xfrm>
          <a:prstGeom prst="roundRect">
            <a:avLst>
              <a:gd name="adj" fmla="val 5714"/>
            </a:avLst>
          </a:prstGeom>
          <a:solidFill>
            <a:srgbClr val="0C172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8394700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51890" y="83566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EF3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Opener script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822960" y="8699500"/>
            <a:ext cx="6126480" cy="6454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lnSpc>
                <a:spcPts val="1680"/>
              </a:lnSpc>
              <a:spcAft>
                <a:spcPts val="800"/>
              </a:spcAft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“Hi [name], it’s [you] with Dispango. When a call comes in mid-job or after hours, what happens to it?” … “That’s what we fix. 4:00 today or 9:00 tomorrow? I’ll send the invite now.”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0982304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180" y="54864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 Sales Playbook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846320" y="5486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 of 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990600"/>
            <a:ext cx="6675120" cy="12802"/>
          </a:xfrm>
          <a:prstGeom prst="rect">
            <a:avLst/>
          </a:prstGeom>
          <a:solidFill>
            <a:srgbClr val="EEF3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48640" y="111760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</a:t>
            </a:r>
            <a:r>
              <a:rPr lang="en-US" sz="3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&amp; Trial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1930400"/>
            <a:ext cx="6675120" cy="863600"/>
          </a:xfrm>
          <a:prstGeom prst="roundRect">
            <a:avLst>
              <a:gd name="adj" fmla="val 125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05180" y="1930400"/>
            <a:ext cx="616331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real value on Zoom, let them test the agent live, and start a one-week free trial.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3048000"/>
            <a:ext cx="31546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2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THIS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3403600"/>
            <a:ext cx="3154680" cy="46465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the call, point the demo agent’s lead texts at their cell (admin tool).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with 5 minutes of value: contractors using AI to win more jobs, missed calls to auto-booked viewings. Teach, don’t pitch.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 their pain from the cold call, in their own words.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live test: they call the demo number, playing the customer. The lead text lands in seconds. Let it breathe.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 the trial: one week free, forward busy and no-answer calls, keep every lead, no strings.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trial on the Zoom: set up forwarding together and place one test call.</a:t>
            </a:r>
            <a:endParaRPr lang="en-US" sz="1050" dirty="0"/>
          </a:p>
        </p:txBody>
      </p:sp>
      <p:sp>
        <p:nvSpPr>
          <p:cNvPr id="90" name="TipsCard"/>
          <p:cNvSpPr/>
          <p:nvPr/>
        </p:nvSpPr>
        <p:spPr>
          <a:xfrm>
            <a:off x="4069080" y="2946400"/>
            <a:ext cx="3154680" cy="5257800"/>
          </a:xfrm>
          <a:prstGeom prst="roundRect">
            <a:avLst>
              <a:gd name="adj" fmla="val 6000"/>
            </a:avLst>
          </a:prstGeom>
          <a:solidFill>
            <a:srgbClr val="EEF3F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246880" y="3048000"/>
            <a:ext cx="27990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2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246880" y="3403600"/>
            <a:ext cx="2799080" cy="2915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value section makes the meeting worth their time, even if they never buy.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trial is also qualification: if their phone never rings, the product isn’t for them, and that’s fine.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trial that starts same-day converts better than one that starts next week.</a:t>
            </a:r>
            <a:endParaRPr lang="en-US" sz="1050" dirty="0"/>
          </a:p>
          <a:p>
            <a:pPr marL="0" indent="0">
              <a:lnSpc>
                <a:spcPts val="1680"/>
              </a:lnSpc>
              <a:spcAft>
                <a:spcPts val="800"/>
              </a:spcAft>
              <a:buSzPct val="100000"/>
              <a:buNone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done = trial live, forwarding confirmed with a test call.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48640" y="8407400"/>
            <a:ext cx="6675120" cy="1092200"/>
          </a:xfrm>
          <a:prstGeom prst="roundRect">
            <a:avLst>
              <a:gd name="adj" fmla="val 5714"/>
            </a:avLst>
          </a:prstGeom>
          <a:solidFill>
            <a:srgbClr val="0C172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8610600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51890" y="85725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EF3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Trial offer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822960" y="8915400"/>
            <a:ext cx="6126480" cy="4274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lnSpc>
                <a:spcPts val="168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“One week free: forward your busy and no-answer calls, keep every lead the agent captures. No strings; if it never rings, you’ve lost nothing.”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1415727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180" y="54864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 Sales Playbook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846320" y="5486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Between stages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990600"/>
            <a:ext cx="6675120" cy="12802"/>
          </a:xfrm>
          <a:prstGeom prst="rect">
            <a:avLst/>
          </a:prstGeom>
          <a:solidFill>
            <a:srgbClr val="EEF3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48640" y="111760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Follow-up: the motion between stages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1930400"/>
            <a:ext cx="6675120" cy="863600"/>
          </a:xfrm>
          <a:prstGeom prst="roundRect">
            <a:avLst>
              <a:gd name="adj" fmla="val 125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05180" y="1930400"/>
            <a:ext cx="616331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not a stage. Run it whenever a prospect stalls (didn’t answer, didn’t book, didn’t show, went quiet during trial): 3–4 touches over about a week.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3048000"/>
            <a:ext cx="31546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2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THIS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3403600"/>
            <a:ext cx="3154680" cy="37873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day: a short voicemail plus a text with the demo number and a 30-second recording of the agent handling a real call.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2–3: send proof, a screenshot of a lead text with one line of math on what a missed job costs.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4–5: a pattern interrupt, something human and playful that triggers a reply. Try a skeleton meme captioned “me waiting to show you the demo”, or “[Name], still want to stop missing calls or should I close your file?”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breakup: mark the status and stop.</a:t>
            </a:r>
            <a:endParaRPr lang="en-US" sz="1050" dirty="0"/>
          </a:p>
        </p:txBody>
      </p:sp>
      <p:sp>
        <p:nvSpPr>
          <p:cNvPr id="90" name="TipsCard"/>
          <p:cNvSpPr/>
          <p:nvPr/>
        </p:nvSpPr>
        <p:spPr>
          <a:xfrm>
            <a:off x="4069080" y="2946400"/>
            <a:ext cx="3154680" cy="4394200"/>
          </a:xfrm>
          <a:prstGeom prst="roundRect">
            <a:avLst>
              <a:gd name="adj" fmla="val 6000"/>
            </a:avLst>
          </a:prstGeom>
          <a:solidFill>
            <a:srgbClr val="EEF3F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246880" y="3048000"/>
            <a:ext cx="27990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2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246880" y="3403600"/>
            <a:ext cx="2799080" cy="21587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Creativity earns replies that professionalism alone does not.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reference where they left off.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No-shows get an instant “still good for today?” text and one re-book attempt before entering this sequence.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48640" y="7543800"/>
            <a:ext cx="6675120" cy="1308100"/>
          </a:xfrm>
          <a:prstGeom prst="roundRect">
            <a:avLst>
              <a:gd name="adj" fmla="val 5714"/>
            </a:avLst>
          </a:prstGeom>
          <a:solidFill>
            <a:srgbClr val="0C172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7747000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51890" y="77089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EF3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822960" y="8051800"/>
            <a:ext cx="6126480" cy="6454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lnSpc>
                <a:spcPts val="168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 proof artifacts, the 30-second call recording and the lead-text screenshot, live in the sales folder. Attach the recording to touch 1 and the screenshot to touch 2.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8503475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180" y="54864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 Sales Playbook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846320" y="5486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4 of 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990600"/>
            <a:ext cx="6675120" cy="12802"/>
          </a:xfrm>
          <a:prstGeom prst="rect">
            <a:avLst/>
          </a:prstGeom>
          <a:solidFill>
            <a:srgbClr val="EEF3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48640" y="111760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</a:t>
            </a:r>
            <a:r>
              <a:rPr lang="en-US" sz="3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1930400"/>
            <a:ext cx="6675120" cy="863600"/>
          </a:xfrm>
          <a:prstGeom prst="roundRect">
            <a:avLst>
              <a:gd name="adj" fmla="val 125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05180" y="1930400"/>
            <a:ext cx="616331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trial data into a paying customer.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3048000"/>
            <a:ext cx="31546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2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THIS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3403600"/>
            <a:ext cx="3154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the trial together: how many calls the agent caught, at what hours, with the actual lead texts as evidence.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the math out loud: what one of those jobs is worth against the monthly price.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it plainly: “Want to keep it on?”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the agreement and take payment on the same call.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trial caught nothing, be honest: the product isn’t a fit right now. Part on good terms and leave the door open. That protects our time and our reputation.</a:t>
            </a:r>
            <a:endParaRPr lang="en-US" sz="1050" dirty="0"/>
          </a:p>
        </p:txBody>
      </p:sp>
      <p:sp>
        <p:nvSpPr>
          <p:cNvPr id="90" name="TipsCard"/>
          <p:cNvSpPr/>
          <p:nvPr/>
        </p:nvSpPr>
        <p:spPr>
          <a:xfrm>
            <a:off x="4069080" y="2946400"/>
            <a:ext cx="3154680" cy="4635500"/>
          </a:xfrm>
          <a:prstGeom prst="roundRect">
            <a:avLst>
              <a:gd name="adj" fmla="val 6000"/>
            </a:avLst>
          </a:prstGeom>
          <a:solidFill>
            <a:srgbClr val="EEF3F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246880" y="3048000"/>
            <a:ext cx="27990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2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246880" y="3403600"/>
            <a:ext cx="2799080" cy="24793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trial did the selling, so the close is arithmetic, not persuasion.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Don’t discount on reflex; sell the cost of the missed job.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customer who gets no value churns anyway. Disqualifying is a win.</a:t>
            </a:r>
            <a:endParaRPr lang="en-US" sz="1050" dirty="0"/>
          </a:p>
          <a:p>
            <a:pPr marL="0" indent="0">
              <a:lnSpc>
                <a:spcPts val="1680"/>
              </a:lnSpc>
              <a:spcAft>
                <a:spcPts val="800"/>
              </a:spcAft>
              <a:buSzPct val="100000"/>
              <a:buNone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done = agreement signed and payment active.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48640" y="7785100"/>
            <a:ext cx="6675120" cy="1092200"/>
          </a:xfrm>
          <a:prstGeom prst="roundRect">
            <a:avLst>
              <a:gd name="adj" fmla="val 5714"/>
            </a:avLst>
          </a:prstGeom>
          <a:solidFill>
            <a:srgbClr val="0C172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7988300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51890" y="79502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EF3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anchor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822960" y="8293100"/>
            <a:ext cx="6126480" cy="4274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lnSpc>
                <a:spcPts val="1680"/>
              </a:lnSpc>
              <a:spcAft>
                <a:spcPts val="800"/>
              </a:spcAft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what the trial actually caught, then price against one missed job. Stop talking and let them react.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6028988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180" y="54864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 Sales Playbook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846320" y="5486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5 of 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990600"/>
            <a:ext cx="6675120" cy="12802"/>
          </a:xfrm>
          <a:prstGeom prst="rect">
            <a:avLst/>
          </a:prstGeom>
          <a:solidFill>
            <a:srgbClr val="EEF3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48640" y="111760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 </a:t>
            </a:r>
            <a:r>
              <a:rPr lang="en-US" sz="3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1930400"/>
            <a:ext cx="6675120" cy="863600"/>
          </a:xfrm>
          <a:prstGeom prst="roundRect">
            <a:avLst>
              <a:gd name="adj" fmla="val 125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05180" y="1930400"/>
            <a:ext cx="616331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B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system is live, their concerns are answered, and they know how to reach us.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3048000"/>
            <a:ext cx="31546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2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THIS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3403600"/>
            <a:ext cx="3154680" cy="4428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the setup in the admin tool: business and agent names, inbound number, dispatch phone, hours.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call forwarding is set on their line, then place a real test call and confirm the lead text arrives.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them through their part: what the agent does, what to do when a lead text arrives, and how to reach us.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 every open concern before ending the call.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a check-in for day 3-5.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check-in, confirm leads are landing, then ask: “Who else do you know running a shop like yours?”</a:t>
            </a:r>
            <a:endParaRPr lang="en-US" sz="1050" dirty="0"/>
          </a:p>
        </p:txBody>
      </p:sp>
      <p:sp>
        <p:nvSpPr>
          <p:cNvPr id="90" name="TipsCard"/>
          <p:cNvSpPr/>
          <p:nvPr/>
        </p:nvSpPr>
        <p:spPr>
          <a:xfrm>
            <a:off x="4069080" y="2946400"/>
            <a:ext cx="3154680" cy="5041900"/>
          </a:xfrm>
          <a:prstGeom prst="roundRect">
            <a:avLst>
              <a:gd name="adj" fmla="val 6000"/>
            </a:avLst>
          </a:prstGeom>
          <a:solidFill>
            <a:srgbClr val="EEF3F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246880" y="3048000"/>
            <a:ext cx="27990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2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246880" y="3403600"/>
            <a:ext cx="2799080" cy="3235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admin UI for all changes.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numbers in E.164 format (+1…).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public number never changes; only forwarding does.</a:t>
            </a:r>
            <a:endParaRPr lang="en-US" sz="105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isn’t done until a real test call has worked end to end.</a:t>
            </a:r>
            <a:endParaRPr lang="en-US" sz="1050" dirty="0"/>
          </a:p>
          <a:p>
            <a:pPr marL="0" indent="0">
              <a:lnSpc>
                <a:spcPts val="1680"/>
              </a:lnSpc>
              <a:spcAft>
                <a:spcPts val="800"/>
              </a:spcAft>
              <a:buSzPct val="100000"/>
              <a:buNone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done = live system verified with a test call, client knows their part and how to reach us, day 3-5 check-in booked.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48640" y="8191500"/>
            <a:ext cx="6675120" cy="1308100"/>
          </a:xfrm>
          <a:prstGeom prst="roundRect">
            <a:avLst>
              <a:gd name="adj" fmla="val 5714"/>
            </a:avLst>
          </a:prstGeom>
          <a:solidFill>
            <a:srgbClr val="0C172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8394700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51890" y="83566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EF3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822960" y="8699500"/>
            <a:ext cx="6126480" cy="6454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lnSpc>
                <a:spcPts val="168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admin tool (admin-ui page → admin API): create the client, send a test SMS, toggle active. Onboarding done = a correct clients row plus call forwarding set on their line.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42048704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180" y="54864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Dispango Sales Playbook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846320" y="5486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Cadence &amp; metrics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990600"/>
            <a:ext cx="6675120" cy="12802"/>
          </a:xfrm>
          <a:prstGeom prst="rect">
            <a:avLst/>
          </a:prstGeom>
          <a:solidFill>
            <a:srgbClr val="EEF3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48640" y="111760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C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it on a rhythm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1905000"/>
            <a:ext cx="3154680" cy="4076700"/>
          </a:xfrm>
          <a:prstGeom prst="roundRect">
            <a:avLst>
              <a:gd name="adj" fmla="val 352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31520" y="2108200"/>
            <a:ext cx="279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cap="all" spc="12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rhythm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463800"/>
            <a:ext cx="2794000" cy="3338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Mon: build/refresh the prospect list</a:t>
            </a:r>
            <a:endParaRPr lang="en-US" sz="110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Tue-Thu: cold-call blocks; book Zooms, same day when possible</a:t>
            </a:r>
            <a:endParaRPr lang="en-US" sz="110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Daily: work the follow-up queue</a:t>
            </a:r>
            <a:endParaRPr lang="en-US" sz="110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Wed-Fri: run Zoom demos; start trials before the call ends</a:t>
            </a:r>
            <a:endParaRPr lang="en-US" sz="110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Daily: day 3-5 client check-ins as they come due</a:t>
            </a:r>
            <a:endParaRPr lang="en-US" sz="110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Fri: close ending trials, onboard, review the funnel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69080" y="1905000"/>
            <a:ext cx="3154680" cy="4076700"/>
          </a:xfrm>
          <a:prstGeom prst="roundRect">
            <a:avLst>
              <a:gd name="adj" fmla="val 352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251960" y="2108200"/>
            <a:ext cx="27990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cap="all" spc="12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Funnel to track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251960" y="2463800"/>
            <a:ext cx="2799080" cy="17098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Lists built → calls made</a:t>
            </a:r>
            <a:endParaRPr lang="en-US" sz="110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 → demos held</a:t>
            </a:r>
            <a:endParaRPr lang="en-US" sz="110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Demos held → trials started</a:t>
            </a:r>
            <a:endParaRPr lang="en-US" sz="110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Trials started → converted to paid</a:t>
            </a:r>
            <a:endParaRPr lang="en-US" sz="1100" dirty="0"/>
          </a:p>
          <a:p>
            <a:pPr marL="342900" indent="-342900">
              <a:lnSpc>
                <a:spcPts val="168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Converted → onboarded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6337300"/>
            <a:ext cx="6675120" cy="1308100"/>
          </a:xfrm>
          <a:prstGeom prst="roundRect">
            <a:avLst>
              <a:gd name="adj" fmla="val 8000"/>
            </a:avLst>
          </a:prstGeom>
          <a:solidFill>
            <a:srgbClr val="0C17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822960" y="6502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EF3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number that matters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2960" y="6845300"/>
            <a:ext cx="6126480" cy="6454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lnSpc>
                <a:spcPts val="168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Trials started per week. Everything upstream (lists, calls, demos) exists to grow it; everything downstream (close, onboard) converts it. Review it every Friday.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5235337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918515D-35E4-6243-AB12-24A4B7ED72EC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b199a446-0478-4c74-90bd-f49d0888198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3485</TotalTime>
  <Words>1681</Words>
  <Application>Microsoft Macintosh PowerPoint</Application>
  <PresentationFormat>Custom</PresentationFormat>
  <Paragraphs>171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1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Miguel Segura</cp:lastModifiedBy>
  <cp:revision>3</cp:revision>
  <dcterms:created xsi:type="dcterms:W3CDTF">2026-06-26T11:38:46Z</dcterms:created>
  <dcterms:modified xsi:type="dcterms:W3CDTF">2026-07-11T05:43:23Z</dcterms:modified>
</cp:coreProperties>
</file>