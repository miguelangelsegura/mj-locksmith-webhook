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83" r:id="rId2"/>
    <p:sldId id="284" r:id="rId3"/>
    <p:sldId id="285" r:id="rId4"/>
    <p:sldId id="287" r:id="rId5"/>
    <p:sldId id="288" r:id="rId6"/>
    <p:sldId id="289" r:id="rId7"/>
    <p:sldId id="290" r:id="rId8"/>
    <p:sldId id="291" r:id="rId9"/>
    <p:sldId id="292" r:id="rId10"/>
  </p:sldIdLst>
  <p:sldSz cx="7772400" cy="10058400"/>
  <p:notesSz cx="10058400" cy="7772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240"/>
    <p:restoredTop sz="94610"/>
  </p:normalViewPr>
  <p:slideViewPr>
    <p:cSldViewPr snapToGrid="0" snapToObjects="1">
      <p:cViewPr varScale="1">
        <p:scale>
          <a:sx n="108" d="100"/>
          <a:sy n="108" d="100"/>
        </p:scale>
        <p:origin x="2624"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560164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72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48640" y="640080"/>
            <a:ext cx="457200" cy="457200"/>
          </a:xfrm>
          <a:prstGeom prst="rect">
            <a:avLst/>
          </a:prstGeom>
        </p:spPr>
      </p:pic>
      <p:sp>
        <p:nvSpPr>
          <p:cNvPr id="3" name="Text 0"/>
          <p:cNvSpPr/>
          <p:nvPr/>
        </p:nvSpPr>
        <p:spPr>
          <a:xfrm>
            <a:off x="1115568" y="621792"/>
            <a:ext cx="3657600" cy="493776"/>
          </a:xfrm>
          <a:prstGeom prst="rect">
            <a:avLst/>
          </a:prstGeom>
          <a:noFill/>
          <a:ln/>
        </p:spPr>
        <p:txBody>
          <a:bodyPr wrap="square" lIns="0" tIns="0" rIns="0" bIns="0" rtlCol="0" anchor="ctr"/>
          <a:lstStyle/>
          <a:p>
            <a:pPr marL="0" indent="0">
              <a:buNone/>
            </a:pPr>
            <a:r>
              <a:rPr lang="en-US" sz="2000" b="1" dirty="0">
                <a:solidFill>
                  <a:srgbClr val="FFFFFF"/>
                </a:solidFill>
                <a:latin typeface="Arial" pitchFamily="34" charset="0"/>
                <a:ea typeface="Arial" pitchFamily="34" charset="-122"/>
                <a:cs typeface="Arial" pitchFamily="34" charset="-120"/>
              </a:rPr>
              <a:t>Dispango</a:t>
            </a:r>
            <a:endParaRPr lang="en-US" sz="2000" dirty="0"/>
          </a:p>
        </p:txBody>
      </p:sp>
      <p:sp>
        <p:nvSpPr>
          <p:cNvPr id="4" name="Text 1"/>
          <p:cNvSpPr/>
          <p:nvPr/>
        </p:nvSpPr>
        <p:spPr>
          <a:xfrm>
            <a:off x="548640" y="2468880"/>
            <a:ext cx="6675120" cy="914400"/>
          </a:xfrm>
          <a:prstGeom prst="rect">
            <a:avLst/>
          </a:prstGeom>
          <a:noFill/>
          <a:ln/>
        </p:spPr>
        <p:txBody>
          <a:bodyPr wrap="square" lIns="0" tIns="0" rIns="0" bIns="0" rtlCol="0" anchor="ctr"/>
          <a:lstStyle/>
          <a:p>
            <a:pPr marL="0" indent="0">
              <a:buNone/>
            </a:pPr>
            <a:r>
              <a:rPr lang="en-US" sz="4400" b="1" dirty="0">
                <a:solidFill>
                  <a:srgbClr val="FFFFFF"/>
                </a:solidFill>
                <a:latin typeface="Arial" pitchFamily="34" charset="0"/>
                <a:ea typeface="Arial" pitchFamily="34" charset="-122"/>
                <a:cs typeface="Arial" pitchFamily="34" charset="-120"/>
              </a:rPr>
              <a:t>Sales Playbook</a:t>
            </a:r>
            <a:endParaRPr lang="en-US" sz="4400" dirty="0"/>
          </a:p>
        </p:txBody>
      </p:sp>
      <p:sp>
        <p:nvSpPr>
          <p:cNvPr id="5" name="Text 2"/>
          <p:cNvSpPr/>
          <p:nvPr/>
        </p:nvSpPr>
        <p:spPr>
          <a:xfrm>
            <a:off x="548640" y="3566160"/>
            <a:ext cx="6035040" cy="822960"/>
          </a:xfrm>
          <a:prstGeom prst="rect">
            <a:avLst/>
          </a:prstGeom>
          <a:noFill/>
          <a:ln/>
        </p:spPr>
        <p:txBody>
          <a:bodyPr wrap="square" lIns="0" tIns="0" rIns="0" bIns="0" rtlCol="0" anchor="ctr"/>
          <a:lstStyle/>
          <a:p>
            <a:pPr marL="0" indent="0">
              <a:lnSpc>
                <a:spcPct val="125000"/>
              </a:lnSpc>
              <a:buNone/>
            </a:pPr>
            <a:r>
              <a:rPr lang="en-US" sz="1400" dirty="0">
                <a:solidFill>
                  <a:srgbClr val="CADCFC"/>
                </a:solidFill>
                <a:latin typeface="Arial" pitchFamily="34" charset="0"/>
                <a:ea typeface="Arial" pitchFamily="34" charset="-122"/>
                <a:cs typeface="Arial" pitchFamily="34" charset="-120"/>
              </a:rPr>
              <a:t>How we turn service contractors into customers: find them, call them, run the demo, close, and get them live.</a:t>
            </a:r>
            <a:endParaRPr lang="en-US" sz="1400" dirty="0"/>
          </a:p>
        </p:txBody>
      </p:sp>
      <p:sp>
        <p:nvSpPr>
          <p:cNvPr id="6" name="Shape 3"/>
          <p:cNvSpPr/>
          <p:nvPr/>
        </p:nvSpPr>
        <p:spPr>
          <a:xfrm>
            <a:off x="548640" y="5212080"/>
            <a:ext cx="365760" cy="365760"/>
          </a:xfrm>
          <a:prstGeom prst="ellipse">
            <a:avLst/>
          </a:prstGeom>
          <a:solidFill>
            <a:srgbClr val="2F6BED"/>
          </a:solidFill>
          <a:ln/>
        </p:spPr>
        <p:txBody>
          <a:bodyPr/>
          <a:lstStyle/>
          <a:p>
            <a:endParaRPr lang="en-US"/>
          </a:p>
        </p:txBody>
      </p:sp>
      <p:sp>
        <p:nvSpPr>
          <p:cNvPr id="7" name="Text 4"/>
          <p:cNvSpPr/>
          <p:nvPr/>
        </p:nvSpPr>
        <p:spPr>
          <a:xfrm>
            <a:off x="548640" y="52120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p:nvPr/>
        </p:nvSpPr>
        <p:spPr>
          <a:xfrm>
            <a:off x="1097280" y="5212080"/>
            <a:ext cx="365760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Identify</a:t>
            </a:r>
            <a:endParaRPr lang="en-US" sz="1500" dirty="0"/>
          </a:p>
        </p:txBody>
      </p:sp>
      <p:sp>
        <p:nvSpPr>
          <p:cNvPr id="9" name="Shape 6"/>
          <p:cNvSpPr/>
          <p:nvPr/>
        </p:nvSpPr>
        <p:spPr>
          <a:xfrm>
            <a:off x="548640" y="5779008"/>
            <a:ext cx="365760" cy="365760"/>
          </a:xfrm>
          <a:prstGeom prst="ellipse">
            <a:avLst/>
          </a:prstGeom>
          <a:solidFill>
            <a:srgbClr val="2F6BED"/>
          </a:solidFill>
          <a:ln/>
        </p:spPr>
        <p:txBody>
          <a:bodyPr/>
          <a:lstStyle/>
          <a:p>
            <a:endParaRPr lang="en-US"/>
          </a:p>
        </p:txBody>
      </p:sp>
      <p:sp>
        <p:nvSpPr>
          <p:cNvPr id="10" name="Text 7"/>
          <p:cNvSpPr/>
          <p:nvPr/>
        </p:nvSpPr>
        <p:spPr>
          <a:xfrm>
            <a:off x="548640" y="5779008"/>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1097280" y="5779008"/>
            <a:ext cx="365760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Cold Call</a:t>
            </a:r>
            <a:endParaRPr lang="en-US" sz="1500" dirty="0"/>
          </a:p>
        </p:txBody>
      </p:sp>
      <p:sp>
        <p:nvSpPr>
          <p:cNvPr id="12" name="Shape 9"/>
          <p:cNvSpPr/>
          <p:nvPr/>
        </p:nvSpPr>
        <p:spPr>
          <a:xfrm>
            <a:off x="548640" y="6345936"/>
            <a:ext cx="365760" cy="365760"/>
          </a:xfrm>
          <a:prstGeom prst="ellipse">
            <a:avLst/>
          </a:prstGeom>
          <a:solidFill>
            <a:srgbClr val="2F6BED"/>
          </a:solidFill>
          <a:ln/>
        </p:spPr>
        <p:txBody>
          <a:bodyPr/>
          <a:lstStyle/>
          <a:p>
            <a:endParaRPr lang="en-US"/>
          </a:p>
        </p:txBody>
      </p:sp>
      <p:sp>
        <p:nvSpPr>
          <p:cNvPr id="13" name="Text 10"/>
          <p:cNvSpPr/>
          <p:nvPr/>
        </p:nvSpPr>
        <p:spPr>
          <a:xfrm>
            <a:off x="548640" y="634593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1"/>
          <p:cNvSpPr/>
          <p:nvPr/>
        </p:nvSpPr>
        <p:spPr>
          <a:xfrm>
            <a:off x="1097280" y="6345936"/>
            <a:ext cx="365760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Demo &amp; Trial</a:t>
            </a:r>
            <a:endParaRPr lang="en-US" sz="1500" dirty="0"/>
          </a:p>
        </p:txBody>
      </p:sp>
      <p:sp>
        <p:nvSpPr>
          <p:cNvPr id="15" name="Shape 12"/>
          <p:cNvSpPr/>
          <p:nvPr/>
        </p:nvSpPr>
        <p:spPr>
          <a:xfrm>
            <a:off x="548640" y="6912864"/>
            <a:ext cx="365760" cy="365760"/>
          </a:xfrm>
          <a:prstGeom prst="ellipse">
            <a:avLst/>
          </a:prstGeom>
          <a:solidFill>
            <a:srgbClr val="2F6BED"/>
          </a:solidFill>
          <a:ln/>
        </p:spPr>
        <p:txBody>
          <a:bodyPr/>
          <a:lstStyle/>
          <a:p>
            <a:endParaRPr lang="en-US"/>
          </a:p>
        </p:txBody>
      </p:sp>
      <p:sp>
        <p:nvSpPr>
          <p:cNvPr id="16" name="Text 13"/>
          <p:cNvSpPr/>
          <p:nvPr/>
        </p:nvSpPr>
        <p:spPr>
          <a:xfrm>
            <a:off x="548640" y="6912864"/>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7" name="Text 14"/>
          <p:cNvSpPr/>
          <p:nvPr/>
        </p:nvSpPr>
        <p:spPr>
          <a:xfrm>
            <a:off x="1097280" y="6912864"/>
            <a:ext cx="365760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Close</a:t>
            </a:r>
            <a:endParaRPr lang="en-US" sz="1500" dirty="0"/>
          </a:p>
        </p:txBody>
      </p:sp>
      <p:sp>
        <p:nvSpPr>
          <p:cNvPr id="18" name="Shape 15"/>
          <p:cNvSpPr/>
          <p:nvPr/>
        </p:nvSpPr>
        <p:spPr>
          <a:xfrm>
            <a:off x="548640" y="7479792"/>
            <a:ext cx="365760" cy="365760"/>
          </a:xfrm>
          <a:prstGeom prst="ellipse">
            <a:avLst/>
          </a:prstGeom>
          <a:solidFill>
            <a:srgbClr val="2F6BED"/>
          </a:solidFill>
          <a:ln/>
        </p:spPr>
        <p:txBody>
          <a:bodyPr/>
          <a:lstStyle/>
          <a:p>
            <a:endParaRPr lang="en-US"/>
          </a:p>
        </p:txBody>
      </p:sp>
      <p:sp>
        <p:nvSpPr>
          <p:cNvPr id="19" name="Text 16"/>
          <p:cNvSpPr/>
          <p:nvPr/>
        </p:nvSpPr>
        <p:spPr>
          <a:xfrm>
            <a:off x="548640" y="7479792"/>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0" name="Text 17"/>
          <p:cNvSpPr/>
          <p:nvPr/>
        </p:nvSpPr>
        <p:spPr>
          <a:xfrm>
            <a:off x="1097280" y="7479792"/>
            <a:ext cx="3657600" cy="36576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Onboard</a:t>
            </a:r>
            <a:endParaRPr lang="en-US" sz="1500" dirty="0"/>
          </a:p>
        </p:txBody>
      </p:sp>
      <p:sp>
        <p:nvSpPr>
          <p:cNvPr id="21" name="Text 18"/>
          <p:cNvSpPr/>
          <p:nvPr/>
        </p:nvSpPr>
        <p:spPr>
          <a:xfrm>
            <a:off x="548640" y="9326880"/>
            <a:ext cx="3657600" cy="274320"/>
          </a:xfrm>
          <a:prstGeom prst="rect">
            <a:avLst/>
          </a:prstGeom>
          <a:noFill/>
          <a:ln/>
        </p:spPr>
        <p:txBody>
          <a:bodyPr wrap="square" lIns="0" tIns="0" rIns="0" bIns="0" rtlCol="0" anchor="ctr"/>
          <a:lstStyle/>
          <a:p>
            <a:pPr marL="0" indent="0">
              <a:buNone/>
            </a:pPr>
            <a:r>
              <a:rPr lang="en-US" sz="1000" dirty="0">
                <a:solidFill>
                  <a:srgbClr val="8A97A8"/>
                </a:solidFill>
                <a:latin typeface="Arial" pitchFamily="34" charset="0"/>
                <a:ea typeface="Arial" pitchFamily="34" charset="-122"/>
                <a:cs typeface="Arial" pitchFamily="34" charset="-120"/>
              </a:rPr>
              <a:t>Internal use only</a:t>
            </a:r>
            <a:endParaRPr lang="en-US" sz="1000" dirty="0"/>
          </a:p>
        </p:txBody>
      </p:sp>
    </p:spTree>
    <p:extLst>
      <p:ext uri="{BB962C8B-B14F-4D97-AF65-F5344CB8AC3E}">
        <p14:creationId xmlns:p14="http://schemas.microsoft.com/office/powerpoint/2010/main" val="19077811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48640" y="457200"/>
            <a:ext cx="292608" cy="292608"/>
          </a:xfrm>
          <a:prstGeom prst="rect">
            <a:avLst/>
          </a:prstGeom>
        </p:spPr>
      </p:pic>
      <p:sp>
        <p:nvSpPr>
          <p:cNvPr id="3" name="Text 0"/>
          <p:cNvSpPr/>
          <p:nvPr/>
        </p:nvSpPr>
        <p:spPr>
          <a:xfrm>
            <a:off x="932688" y="438912"/>
            <a:ext cx="4114800" cy="329184"/>
          </a:xfrm>
          <a:prstGeom prst="rect">
            <a:avLst/>
          </a:prstGeom>
          <a:noFill/>
          <a:ln/>
        </p:spPr>
        <p:txBody>
          <a:bodyPr wrap="square" lIns="0" tIns="0" rIns="0" bIns="0" rtlCol="0" anchor="ctr"/>
          <a:lstStyle/>
          <a:p>
            <a:pPr marL="0" indent="0">
              <a:buNone/>
            </a:pPr>
            <a:r>
              <a:rPr lang="en-US" sz="1100" b="1" dirty="0">
                <a:solidFill>
                  <a:srgbClr val="0C1726"/>
                </a:solidFill>
                <a:latin typeface="Arial" pitchFamily="34" charset="0"/>
                <a:ea typeface="Arial" pitchFamily="34" charset="-122"/>
                <a:cs typeface="Arial" pitchFamily="34" charset="-120"/>
              </a:rPr>
              <a:t>Dispango Sales Playbook</a:t>
            </a:r>
            <a:endParaRPr lang="en-US" sz="1100" dirty="0"/>
          </a:p>
        </p:txBody>
      </p:sp>
      <p:sp>
        <p:nvSpPr>
          <p:cNvPr id="4" name="Text 1"/>
          <p:cNvSpPr/>
          <p:nvPr/>
        </p:nvSpPr>
        <p:spPr>
          <a:xfrm>
            <a:off x="4846320" y="438912"/>
            <a:ext cx="2377440" cy="329184"/>
          </a:xfrm>
          <a:prstGeom prst="rect">
            <a:avLst/>
          </a:prstGeom>
          <a:noFill/>
          <a:ln/>
        </p:spPr>
        <p:txBody>
          <a:bodyPr wrap="square" lIns="0" tIns="0" rIns="0" bIns="0" rtlCol="0" anchor="ctr"/>
          <a:lstStyle/>
          <a:p>
            <a:pPr marL="0" indent="0" algn="r">
              <a:buNone/>
            </a:pPr>
            <a:r>
              <a:rPr lang="en-US" sz="1000" dirty="0">
                <a:solidFill>
                  <a:srgbClr val="8A97A8"/>
                </a:solidFill>
                <a:latin typeface="Arial" pitchFamily="34" charset="0"/>
                <a:ea typeface="Arial" pitchFamily="34" charset="-122"/>
                <a:cs typeface="Arial" pitchFamily="34" charset="-120"/>
              </a:rPr>
              <a:t>Overview</a:t>
            </a:r>
            <a:endParaRPr lang="en-US" sz="1000" dirty="0"/>
          </a:p>
        </p:txBody>
      </p:sp>
      <p:sp>
        <p:nvSpPr>
          <p:cNvPr id="5" name="Shape 2"/>
          <p:cNvSpPr/>
          <p:nvPr/>
        </p:nvSpPr>
        <p:spPr>
          <a:xfrm>
            <a:off x="548640" y="868680"/>
            <a:ext cx="6675120" cy="12802"/>
          </a:xfrm>
          <a:prstGeom prst="rect">
            <a:avLst/>
          </a:prstGeom>
          <a:solidFill>
            <a:srgbClr val="E7EDF6"/>
          </a:solidFill>
          <a:ln/>
        </p:spPr>
        <p:txBody>
          <a:bodyPr/>
          <a:lstStyle/>
          <a:p>
            <a:endParaRPr lang="en-US"/>
          </a:p>
        </p:txBody>
      </p:sp>
      <p:sp>
        <p:nvSpPr>
          <p:cNvPr id="6" name="Text 3"/>
          <p:cNvSpPr/>
          <p:nvPr/>
        </p:nvSpPr>
        <p:spPr>
          <a:xfrm>
            <a:off x="548640" y="1051560"/>
            <a:ext cx="6675120" cy="548640"/>
          </a:xfrm>
          <a:prstGeom prst="rect">
            <a:avLst/>
          </a:prstGeom>
          <a:noFill/>
          <a:ln/>
        </p:spPr>
        <p:txBody>
          <a:bodyPr wrap="square" lIns="0" tIns="0" rIns="0" bIns="0" rtlCol="0" anchor="ctr"/>
          <a:lstStyle/>
          <a:p>
            <a:pPr marL="0" indent="0">
              <a:buNone/>
            </a:pPr>
            <a:r>
              <a:rPr lang="en-US" sz="2600" b="1" dirty="0">
                <a:solidFill>
                  <a:srgbClr val="0C1726"/>
                </a:solidFill>
                <a:latin typeface="Arial" pitchFamily="34" charset="0"/>
                <a:ea typeface="Arial" pitchFamily="34" charset="-122"/>
                <a:cs typeface="Arial" pitchFamily="34" charset="-120"/>
              </a:rPr>
              <a:t>The sales motion</a:t>
            </a:r>
            <a:endParaRPr lang="en-US" sz="2600" dirty="0"/>
          </a:p>
        </p:txBody>
      </p:sp>
      <p:sp>
        <p:nvSpPr>
          <p:cNvPr id="7" name="Text 4"/>
          <p:cNvSpPr/>
          <p:nvPr/>
        </p:nvSpPr>
        <p:spPr>
          <a:xfrm>
            <a:off x="548640" y="1645920"/>
            <a:ext cx="6675120" cy="365760"/>
          </a:xfrm>
          <a:prstGeom prst="rect">
            <a:avLst/>
          </a:prstGeom>
          <a:noFill/>
          <a:ln/>
        </p:spPr>
        <p:txBody>
          <a:bodyPr wrap="square" lIns="0" tIns="0" rIns="0" bIns="0" rtlCol="0" anchor="ctr"/>
          <a:lstStyle/>
          <a:p>
            <a:pPr marL="0" indent="0">
              <a:buNone/>
            </a:pPr>
            <a:r>
              <a:rPr lang="en-US" sz="1200" dirty="0">
                <a:solidFill>
                  <a:srgbClr val="44505F"/>
                </a:solidFill>
                <a:latin typeface="Arial" pitchFamily="34" charset="0"/>
                <a:ea typeface="Arial" pitchFamily="34" charset="-122"/>
                <a:cs typeface="Arial" pitchFamily="34" charset="-120"/>
              </a:rPr>
              <a:t>Five stages. Each has one job: move the prospect to the next stage.</a:t>
            </a:r>
            <a:endParaRPr lang="en-US" sz="1200" dirty="0"/>
          </a:p>
        </p:txBody>
      </p:sp>
      <p:sp>
        <p:nvSpPr>
          <p:cNvPr id="8" name="Shape 5"/>
          <p:cNvSpPr/>
          <p:nvPr/>
        </p:nvSpPr>
        <p:spPr>
          <a:xfrm>
            <a:off x="941832" y="2286000"/>
            <a:ext cx="548640" cy="548640"/>
          </a:xfrm>
          <a:prstGeom prst="ellipse">
            <a:avLst/>
          </a:prstGeom>
          <a:solidFill>
            <a:srgbClr val="EEF3FE"/>
          </a:solidFill>
          <a:ln/>
        </p:spPr>
        <p:txBody>
          <a:bodyPr/>
          <a:lstStyle/>
          <a:p>
            <a:endParaRPr lang="en-US"/>
          </a:p>
        </p:txBody>
      </p:sp>
      <p:sp>
        <p:nvSpPr>
          <p:cNvPr id="9" name="Text 6"/>
          <p:cNvSpPr/>
          <p:nvPr/>
        </p:nvSpPr>
        <p:spPr>
          <a:xfrm>
            <a:off x="941832" y="2286000"/>
            <a:ext cx="548640" cy="548640"/>
          </a:xfrm>
          <a:prstGeom prst="rect">
            <a:avLst/>
          </a:prstGeom>
          <a:noFill/>
          <a:ln/>
        </p:spPr>
        <p:txBody>
          <a:bodyPr wrap="square" lIns="0" tIns="0" rIns="0" bIns="0" rtlCol="0" anchor="ctr"/>
          <a:lstStyle/>
          <a:p>
            <a:pPr marL="0" indent="0" algn="ctr">
              <a:buNone/>
            </a:pPr>
            <a:r>
              <a:rPr lang="en-US" sz="1600" b="1" dirty="0">
                <a:solidFill>
                  <a:srgbClr val="2F6BED"/>
                </a:solidFill>
                <a:latin typeface="Arial" pitchFamily="34" charset="0"/>
                <a:ea typeface="Arial" pitchFamily="34" charset="-122"/>
                <a:cs typeface="Arial" pitchFamily="34" charset="-120"/>
              </a:rPr>
              <a:t>1</a:t>
            </a:r>
            <a:endParaRPr lang="en-US" sz="1600" dirty="0"/>
          </a:p>
        </p:txBody>
      </p:sp>
      <p:sp>
        <p:nvSpPr>
          <p:cNvPr id="10" name="Text 7"/>
          <p:cNvSpPr/>
          <p:nvPr/>
        </p:nvSpPr>
        <p:spPr>
          <a:xfrm>
            <a:off x="548640" y="2926080"/>
            <a:ext cx="1335024" cy="320040"/>
          </a:xfrm>
          <a:prstGeom prst="rect">
            <a:avLst/>
          </a:prstGeom>
          <a:noFill/>
          <a:ln/>
        </p:spPr>
        <p:txBody>
          <a:bodyPr wrap="square" lIns="0" tIns="0" rIns="0" bIns="0" rtlCol="0" anchor="ctr"/>
          <a:lstStyle/>
          <a:p>
            <a:pPr marL="0" indent="0" algn="ctr">
              <a:buNone/>
            </a:pPr>
            <a:r>
              <a:rPr lang="en-US" sz="1100" b="1" dirty="0">
                <a:solidFill>
                  <a:srgbClr val="0C1726"/>
                </a:solidFill>
                <a:latin typeface="Arial" pitchFamily="34" charset="0"/>
                <a:ea typeface="Arial" pitchFamily="34" charset="-122"/>
                <a:cs typeface="Arial" pitchFamily="34" charset="-120"/>
              </a:rPr>
              <a:t>Identify</a:t>
            </a:r>
            <a:endParaRPr lang="en-US" sz="1100" dirty="0"/>
          </a:p>
        </p:txBody>
      </p:sp>
      <p:sp>
        <p:nvSpPr>
          <p:cNvPr id="11" name="Shape 8"/>
          <p:cNvSpPr/>
          <p:nvPr/>
        </p:nvSpPr>
        <p:spPr>
          <a:xfrm>
            <a:off x="1508760" y="2551176"/>
            <a:ext cx="749808" cy="12802"/>
          </a:xfrm>
          <a:prstGeom prst="rect">
            <a:avLst/>
          </a:prstGeom>
          <a:solidFill>
            <a:srgbClr val="E7EDF6"/>
          </a:solidFill>
          <a:ln/>
        </p:spPr>
        <p:txBody>
          <a:bodyPr/>
          <a:lstStyle/>
          <a:p>
            <a:endParaRPr lang="en-US"/>
          </a:p>
        </p:txBody>
      </p:sp>
      <p:sp>
        <p:nvSpPr>
          <p:cNvPr id="12" name="Shape 9"/>
          <p:cNvSpPr/>
          <p:nvPr/>
        </p:nvSpPr>
        <p:spPr>
          <a:xfrm>
            <a:off x="2276856" y="2286000"/>
            <a:ext cx="548640" cy="548640"/>
          </a:xfrm>
          <a:prstGeom prst="ellipse">
            <a:avLst/>
          </a:prstGeom>
          <a:solidFill>
            <a:srgbClr val="EEF3FE"/>
          </a:solidFill>
          <a:ln/>
        </p:spPr>
        <p:txBody>
          <a:bodyPr/>
          <a:lstStyle/>
          <a:p>
            <a:endParaRPr lang="en-US"/>
          </a:p>
        </p:txBody>
      </p:sp>
      <p:sp>
        <p:nvSpPr>
          <p:cNvPr id="13" name="Text 10"/>
          <p:cNvSpPr/>
          <p:nvPr/>
        </p:nvSpPr>
        <p:spPr>
          <a:xfrm>
            <a:off x="2276856" y="2286000"/>
            <a:ext cx="548640" cy="548640"/>
          </a:xfrm>
          <a:prstGeom prst="rect">
            <a:avLst/>
          </a:prstGeom>
          <a:noFill/>
          <a:ln/>
        </p:spPr>
        <p:txBody>
          <a:bodyPr wrap="square" lIns="0" tIns="0" rIns="0" bIns="0" rtlCol="0" anchor="ctr"/>
          <a:lstStyle/>
          <a:p>
            <a:pPr marL="0" indent="0" algn="ctr">
              <a:buNone/>
            </a:pPr>
            <a:r>
              <a:rPr lang="en-US" sz="1600" b="1" dirty="0">
                <a:solidFill>
                  <a:srgbClr val="2F6BED"/>
                </a:solidFill>
                <a:latin typeface="Arial" pitchFamily="34" charset="0"/>
                <a:ea typeface="Arial" pitchFamily="34" charset="-122"/>
                <a:cs typeface="Arial" pitchFamily="34" charset="-120"/>
              </a:rPr>
              <a:t>2</a:t>
            </a:r>
            <a:endParaRPr lang="en-US" sz="1600" dirty="0"/>
          </a:p>
        </p:txBody>
      </p:sp>
      <p:sp>
        <p:nvSpPr>
          <p:cNvPr id="14" name="Text 11"/>
          <p:cNvSpPr/>
          <p:nvPr/>
        </p:nvSpPr>
        <p:spPr>
          <a:xfrm>
            <a:off x="1883664" y="2926080"/>
            <a:ext cx="1335024" cy="320040"/>
          </a:xfrm>
          <a:prstGeom prst="rect">
            <a:avLst/>
          </a:prstGeom>
          <a:noFill/>
          <a:ln/>
        </p:spPr>
        <p:txBody>
          <a:bodyPr wrap="square" lIns="0" tIns="0" rIns="0" bIns="0" rtlCol="0" anchor="ctr"/>
          <a:lstStyle/>
          <a:p>
            <a:pPr marL="0" indent="0" algn="ctr">
              <a:buNone/>
            </a:pPr>
            <a:r>
              <a:rPr lang="en-US" sz="1100" b="1" dirty="0">
                <a:solidFill>
                  <a:srgbClr val="0C1726"/>
                </a:solidFill>
                <a:latin typeface="Arial" pitchFamily="34" charset="0"/>
                <a:ea typeface="Arial" pitchFamily="34" charset="-122"/>
                <a:cs typeface="Arial" pitchFamily="34" charset="-120"/>
              </a:rPr>
              <a:t>Cold Call</a:t>
            </a:r>
            <a:endParaRPr lang="en-US" sz="1100" dirty="0"/>
          </a:p>
        </p:txBody>
      </p:sp>
      <p:sp>
        <p:nvSpPr>
          <p:cNvPr id="15" name="Shape 12"/>
          <p:cNvSpPr/>
          <p:nvPr/>
        </p:nvSpPr>
        <p:spPr>
          <a:xfrm>
            <a:off x="2843784" y="2551176"/>
            <a:ext cx="749808" cy="12802"/>
          </a:xfrm>
          <a:prstGeom prst="rect">
            <a:avLst/>
          </a:prstGeom>
          <a:solidFill>
            <a:srgbClr val="E7EDF6"/>
          </a:solidFill>
          <a:ln/>
        </p:spPr>
        <p:txBody>
          <a:bodyPr/>
          <a:lstStyle/>
          <a:p>
            <a:endParaRPr lang="en-US"/>
          </a:p>
        </p:txBody>
      </p:sp>
      <p:sp>
        <p:nvSpPr>
          <p:cNvPr id="16" name="Shape 13"/>
          <p:cNvSpPr/>
          <p:nvPr/>
        </p:nvSpPr>
        <p:spPr>
          <a:xfrm>
            <a:off x="3611880" y="2286000"/>
            <a:ext cx="548640" cy="548640"/>
          </a:xfrm>
          <a:prstGeom prst="ellipse">
            <a:avLst/>
          </a:prstGeom>
          <a:solidFill>
            <a:srgbClr val="EEF3FE"/>
          </a:solidFill>
          <a:ln/>
        </p:spPr>
        <p:txBody>
          <a:bodyPr/>
          <a:lstStyle/>
          <a:p>
            <a:endParaRPr lang="en-US"/>
          </a:p>
        </p:txBody>
      </p:sp>
      <p:sp>
        <p:nvSpPr>
          <p:cNvPr id="17" name="Text 14"/>
          <p:cNvSpPr/>
          <p:nvPr/>
        </p:nvSpPr>
        <p:spPr>
          <a:xfrm>
            <a:off x="3611880" y="2286000"/>
            <a:ext cx="548640" cy="548640"/>
          </a:xfrm>
          <a:prstGeom prst="rect">
            <a:avLst/>
          </a:prstGeom>
          <a:noFill/>
          <a:ln/>
        </p:spPr>
        <p:txBody>
          <a:bodyPr wrap="square" lIns="0" tIns="0" rIns="0" bIns="0" rtlCol="0" anchor="ctr"/>
          <a:lstStyle/>
          <a:p>
            <a:pPr marL="0" indent="0" algn="ctr">
              <a:buNone/>
            </a:pPr>
            <a:r>
              <a:rPr lang="en-US" sz="1600" b="1" dirty="0">
                <a:solidFill>
                  <a:srgbClr val="2F6BED"/>
                </a:solidFill>
                <a:latin typeface="Arial" pitchFamily="34" charset="0"/>
                <a:ea typeface="Arial" pitchFamily="34" charset="-122"/>
                <a:cs typeface="Arial" pitchFamily="34" charset="-120"/>
              </a:rPr>
              <a:t>3</a:t>
            </a:r>
            <a:endParaRPr lang="en-US" sz="1600" dirty="0"/>
          </a:p>
        </p:txBody>
      </p:sp>
      <p:sp>
        <p:nvSpPr>
          <p:cNvPr id="18" name="Text 15"/>
          <p:cNvSpPr/>
          <p:nvPr/>
        </p:nvSpPr>
        <p:spPr>
          <a:xfrm>
            <a:off x="3218688" y="2926080"/>
            <a:ext cx="1335024" cy="320040"/>
          </a:xfrm>
          <a:prstGeom prst="rect">
            <a:avLst/>
          </a:prstGeom>
          <a:noFill/>
          <a:ln/>
        </p:spPr>
        <p:txBody>
          <a:bodyPr wrap="square" lIns="0" tIns="0" rIns="0" bIns="0" rtlCol="0" anchor="ctr"/>
          <a:lstStyle/>
          <a:p>
            <a:pPr marL="0" indent="0" algn="ctr">
              <a:buNone/>
            </a:pPr>
            <a:r>
              <a:rPr lang="en-US" sz="1100" b="1" dirty="0">
                <a:solidFill>
                  <a:srgbClr val="0C1726"/>
                </a:solidFill>
                <a:latin typeface="Arial" pitchFamily="34" charset="0"/>
                <a:ea typeface="Arial" pitchFamily="34" charset="-122"/>
                <a:cs typeface="Arial" pitchFamily="34" charset="-120"/>
              </a:rPr>
              <a:t>Demo &amp; Trial</a:t>
            </a:r>
            <a:endParaRPr lang="en-US" sz="1100" dirty="0"/>
          </a:p>
        </p:txBody>
      </p:sp>
      <p:sp>
        <p:nvSpPr>
          <p:cNvPr id="19" name="Shape 16"/>
          <p:cNvSpPr/>
          <p:nvPr/>
        </p:nvSpPr>
        <p:spPr>
          <a:xfrm>
            <a:off x="4178808" y="2551176"/>
            <a:ext cx="749808" cy="12802"/>
          </a:xfrm>
          <a:prstGeom prst="rect">
            <a:avLst/>
          </a:prstGeom>
          <a:solidFill>
            <a:srgbClr val="E7EDF6"/>
          </a:solidFill>
          <a:ln/>
        </p:spPr>
        <p:txBody>
          <a:bodyPr/>
          <a:lstStyle/>
          <a:p>
            <a:endParaRPr lang="en-US"/>
          </a:p>
        </p:txBody>
      </p:sp>
      <p:sp>
        <p:nvSpPr>
          <p:cNvPr id="20" name="Shape 17"/>
          <p:cNvSpPr/>
          <p:nvPr/>
        </p:nvSpPr>
        <p:spPr>
          <a:xfrm>
            <a:off x="4946904" y="2286000"/>
            <a:ext cx="548640" cy="548640"/>
          </a:xfrm>
          <a:prstGeom prst="ellipse">
            <a:avLst/>
          </a:prstGeom>
          <a:solidFill>
            <a:srgbClr val="EEF3FE"/>
          </a:solidFill>
          <a:ln/>
        </p:spPr>
        <p:txBody>
          <a:bodyPr/>
          <a:lstStyle/>
          <a:p>
            <a:endParaRPr lang="en-US"/>
          </a:p>
        </p:txBody>
      </p:sp>
      <p:sp>
        <p:nvSpPr>
          <p:cNvPr id="21" name="Text 18"/>
          <p:cNvSpPr/>
          <p:nvPr/>
        </p:nvSpPr>
        <p:spPr>
          <a:xfrm>
            <a:off x="4946904" y="2286000"/>
            <a:ext cx="548640" cy="548640"/>
          </a:xfrm>
          <a:prstGeom prst="rect">
            <a:avLst/>
          </a:prstGeom>
          <a:noFill/>
          <a:ln/>
        </p:spPr>
        <p:txBody>
          <a:bodyPr wrap="square" lIns="0" tIns="0" rIns="0" bIns="0" rtlCol="0" anchor="ctr"/>
          <a:lstStyle/>
          <a:p>
            <a:pPr marL="0" indent="0" algn="ctr">
              <a:buNone/>
            </a:pPr>
            <a:r>
              <a:rPr lang="en-US" sz="1600" b="1" dirty="0">
                <a:solidFill>
                  <a:srgbClr val="2F6BED"/>
                </a:solidFill>
                <a:latin typeface="Arial" pitchFamily="34" charset="0"/>
                <a:ea typeface="Arial" pitchFamily="34" charset="-122"/>
                <a:cs typeface="Arial" pitchFamily="34" charset="-120"/>
              </a:rPr>
              <a:t>4</a:t>
            </a:r>
            <a:endParaRPr lang="en-US" sz="1600" dirty="0"/>
          </a:p>
        </p:txBody>
      </p:sp>
      <p:sp>
        <p:nvSpPr>
          <p:cNvPr id="22" name="Text 19"/>
          <p:cNvSpPr/>
          <p:nvPr/>
        </p:nvSpPr>
        <p:spPr>
          <a:xfrm>
            <a:off x="4553712" y="2926080"/>
            <a:ext cx="1335024" cy="320040"/>
          </a:xfrm>
          <a:prstGeom prst="rect">
            <a:avLst/>
          </a:prstGeom>
          <a:noFill/>
          <a:ln/>
        </p:spPr>
        <p:txBody>
          <a:bodyPr wrap="square" lIns="0" tIns="0" rIns="0" bIns="0" rtlCol="0" anchor="ctr"/>
          <a:lstStyle/>
          <a:p>
            <a:pPr marL="0" indent="0" algn="ctr">
              <a:buNone/>
            </a:pPr>
            <a:r>
              <a:rPr lang="en-US" sz="1100" b="1" dirty="0">
                <a:solidFill>
                  <a:srgbClr val="0C1726"/>
                </a:solidFill>
                <a:latin typeface="Arial" pitchFamily="34" charset="0"/>
                <a:ea typeface="Arial" pitchFamily="34" charset="-122"/>
                <a:cs typeface="Arial" pitchFamily="34" charset="-120"/>
              </a:rPr>
              <a:t>Close</a:t>
            </a:r>
            <a:endParaRPr lang="en-US" sz="1100" dirty="0"/>
          </a:p>
        </p:txBody>
      </p:sp>
      <p:sp>
        <p:nvSpPr>
          <p:cNvPr id="23" name="Shape 20"/>
          <p:cNvSpPr/>
          <p:nvPr/>
        </p:nvSpPr>
        <p:spPr>
          <a:xfrm>
            <a:off x="5513832" y="2551176"/>
            <a:ext cx="749808" cy="12802"/>
          </a:xfrm>
          <a:prstGeom prst="rect">
            <a:avLst/>
          </a:prstGeom>
          <a:solidFill>
            <a:srgbClr val="E7EDF6"/>
          </a:solidFill>
          <a:ln/>
        </p:spPr>
        <p:txBody>
          <a:bodyPr/>
          <a:lstStyle/>
          <a:p>
            <a:endParaRPr lang="en-US"/>
          </a:p>
        </p:txBody>
      </p:sp>
      <p:sp>
        <p:nvSpPr>
          <p:cNvPr id="24" name="Shape 21"/>
          <p:cNvSpPr/>
          <p:nvPr/>
        </p:nvSpPr>
        <p:spPr>
          <a:xfrm>
            <a:off x="6281928" y="2286000"/>
            <a:ext cx="548640" cy="548640"/>
          </a:xfrm>
          <a:prstGeom prst="ellipse">
            <a:avLst/>
          </a:prstGeom>
          <a:solidFill>
            <a:srgbClr val="EEF3FE"/>
          </a:solidFill>
          <a:ln/>
        </p:spPr>
        <p:txBody>
          <a:bodyPr/>
          <a:lstStyle/>
          <a:p>
            <a:endParaRPr lang="en-US"/>
          </a:p>
        </p:txBody>
      </p:sp>
      <p:sp>
        <p:nvSpPr>
          <p:cNvPr id="25" name="Text 22"/>
          <p:cNvSpPr/>
          <p:nvPr/>
        </p:nvSpPr>
        <p:spPr>
          <a:xfrm>
            <a:off x="6281928" y="2286000"/>
            <a:ext cx="548640" cy="548640"/>
          </a:xfrm>
          <a:prstGeom prst="rect">
            <a:avLst/>
          </a:prstGeom>
          <a:noFill/>
          <a:ln/>
        </p:spPr>
        <p:txBody>
          <a:bodyPr wrap="square" lIns="0" tIns="0" rIns="0" bIns="0" rtlCol="0" anchor="ctr"/>
          <a:lstStyle/>
          <a:p>
            <a:pPr marL="0" indent="0" algn="ctr">
              <a:buNone/>
            </a:pPr>
            <a:r>
              <a:rPr lang="en-US" sz="1600" b="1" dirty="0">
                <a:solidFill>
                  <a:srgbClr val="2F6BED"/>
                </a:solidFill>
                <a:latin typeface="Arial" pitchFamily="34" charset="0"/>
                <a:ea typeface="Arial" pitchFamily="34" charset="-122"/>
                <a:cs typeface="Arial" pitchFamily="34" charset="-120"/>
              </a:rPr>
              <a:t>5</a:t>
            </a:r>
            <a:endParaRPr lang="en-US" sz="1600" dirty="0"/>
          </a:p>
        </p:txBody>
      </p:sp>
      <p:sp>
        <p:nvSpPr>
          <p:cNvPr id="26" name="Text 23"/>
          <p:cNvSpPr/>
          <p:nvPr/>
        </p:nvSpPr>
        <p:spPr>
          <a:xfrm>
            <a:off x="5888736" y="2926080"/>
            <a:ext cx="1335024" cy="320040"/>
          </a:xfrm>
          <a:prstGeom prst="rect">
            <a:avLst/>
          </a:prstGeom>
          <a:noFill/>
          <a:ln/>
        </p:spPr>
        <p:txBody>
          <a:bodyPr wrap="square" lIns="0" tIns="0" rIns="0" bIns="0" rtlCol="0" anchor="ctr"/>
          <a:lstStyle/>
          <a:p>
            <a:pPr marL="0" indent="0" algn="ctr">
              <a:buNone/>
            </a:pPr>
            <a:r>
              <a:rPr lang="en-US" sz="1100" b="1" dirty="0">
                <a:solidFill>
                  <a:srgbClr val="0C1726"/>
                </a:solidFill>
                <a:latin typeface="Arial" pitchFamily="34" charset="0"/>
                <a:ea typeface="Arial" pitchFamily="34" charset="-122"/>
                <a:cs typeface="Arial" pitchFamily="34" charset="-120"/>
              </a:rPr>
              <a:t>Onboard</a:t>
            </a:r>
            <a:endParaRPr lang="en-US" sz="1100" dirty="0"/>
          </a:p>
        </p:txBody>
      </p:sp>
      <p:sp>
        <p:nvSpPr>
          <p:cNvPr id="27" name="Text 24"/>
          <p:cNvSpPr/>
          <p:nvPr/>
        </p:nvSpPr>
        <p:spPr>
          <a:xfrm>
            <a:off x="548640" y="3703320"/>
            <a:ext cx="3154680" cy="320040"/>
          </a:xfrm>
          <a:prstGeom prst="rect">
            <a:avLst/>
          </a:prstGeom>
          <a:noFill/>
          <a:ln/>
        </p:spPr>
        <p:txBody>
          <a:bodyPr wrap="square" lIns="0" tIns="0" rIns="0" bIns="0" rtlCol="0" anchor="ctr"/>
          <a:lstStyle/>
          <a:p>
            <a:pPr marL="0" indent="0">
              <a:buNone/>
            </a:pPr>
            <a:r>
              <a:rPr lang="en-US" sz="1300" b="1" dirty="0">
                <a:solidFill>
                  <a:srgbClr val="0C1726"/>
                </a:solidFill>
                <a:latin typeface="Arial" pitchFamily="34" charset="0"/>
                <a:ea typeface="Arial" pitchFamily="34" charset="-122"/>
                <a:cs typeface="Arial" pitchFamily="34" charset="-120"/>
              </a:rPr>
              <a:t>Principles</a:t>
            </a:r>
            <a:endParaRPr lang="en-US" sz="1300" dirty="0"/>
          </a:p>
        </p:txBody>
      </p:sp>
      <p:sp>
        <p:nvSpPr>
          <p:cNvPr id="28" name="Text 25"/>
          <p:cNvSpPr/>
          <p:nvPr/>
        </p:nvSpPr>
        <p:spPr>
          <a:xfrm>
            <a:off x="548640" y="4114800"/>
            <a:ext cx="3154680" cy="36576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44505F"/>
                </a:solidFill>
                <a:latin typeface="Arial" pitchFamily="34" charset="0"/>
                <a:ea typeface="Arial" pitchFamily="34" charset="-122"/>
                <a:cs typeface="Arial" pitchFamily="34" charset="-120"/>
              </a:rPr>
              <a:t>One goal per stage: always advance to the next.</a:t>
            </a:r>
            <a:endParaRPr lang="en-US" sz="1100" dirty="0"/>
          </a:p>
          <a:p>
            <a:pPr marL="342900" indent="-342900">
              <a:spcAft>
                <a:spcPts val="800"/>
              </a:spcAft>
              <a:buSzPct val="100000"/>
              <a:buChar char="•"/>
            </a:pPr>
            <a:r>
              <a:rPr lang="en-US" sz="1100" dirty="0">
                <a:solidFill>
                  <a:srgbClr val="44505F"/>
                </a:solidFill>
                <a:latin typeface="Arial" pitchFamily="34" charset="0"/>
                <a:ea typeface="Arial" pitchFamily="34" charset="-122"/>
                <a:cs typeface="Arial" pitchFamily="34" charset="-120"/>
              </a:rPr>
              <a:t>Lead with their pain (missed, after-hours calls), not features.</a:t>
            </a:r>
            <a:endParaRPr lang="en-US" sz="1100" dirty="0"/>
          </a:p>
          <a:p>
            <a:pPr marL="342900" indent="-342900">
              <a:spcAft>
                <a:spcPts val="800"/>
              </a:spcAft>
              <a:buSzPct val="100000"/>
              <a:buChar char="•"/>
            </a:pPr>
            <a:r>
              <a:rPr lang="en-US" sz="1100" dirty="0">
                <a:solidFill>
                  <a:srgbClr val="44505F"/>
                </a:solidFill>
                <a:latin typeface="Arial" pitchFamily="34" charset="0"/>
                <a:ea typeface="Arial" pitchFamily="34" charset="-122"/>
                <a:cs typeface="Arial" pitchFamily="34" charset="-120"/>
              </a:rPr>
              <a:t>CASL always: only published-email consent, footer on every email, honor opt-outs.</a:t>
            </a:r>
            <a:endParaRPr lang="en-US" sz="1100" dirty="0"/>
          </a:p>
          <a:p>
            <a:pPr marL="342900" indent="-342900">
              <a:spcAft>
                <a:spcPts val="800"/>
              </a:spcAft>
              <a:buSzPct val="100000"/>
              <a:buChar char="•"/>
            </a:pPr>
            <a:r>
              <a:rPr lang="en-US" sz="1100" dirty="0">
                <a:solidFill>
                  <a:srgbClr val="44505F"/>
                </a:solidFill>
                <a:latin typeface="Arial" pitchFamily="34" charset="0"/>
                <a:ea typeface="Arial" pitchFamily="34" charset="-122"/>
                <a:cs typeface="Arial" pitchFamily="34" charset="-120"/>
              </a:rPr>
              <a:t>Track every prospect's stage and outcome.</a:t>
            </a:r>
            <a:endParaRPr lang="en-US" sz="1100" dirty="0"/>
          </a:p>
          <a:p>
            <a:pPr marL="342900" indent="-342900">
              <a:spcAft>
                <a:spcPts val="800"/>
              </a:spcAft>
              <a:buSzPct val="100000"/>
              <a:buChar char="•"/>
            </a:pPr>
            <a:r>
              <a:rPr lang="en-US" sz="1100" dirty="0">
                <a:solidFill>
                  <a:srgbClr val="44505F"/>
                </a:solidFill>
                <a:latin typeface="Arial" pitchFamily="34" charset="0"/>
                <a:ea typeface="Arial" pitchFamily="34" charset="-122"/>
                <a:cs typeface="Arial" pitchFamily="34" charset="-120"/>
              </a:rPr>
              <a:t>The cold call sells the demo; the demo sells the service.</a:t>
            </a:r>
            <a:endParaRPr lang="en-US" sz="1100" dirty="0"/>
          </a:p>
        </p:txBody>
      </p:sp>
      <p:sp>
        <p:nvSpPr>
          <p:cNvPr id="29" name="Text 26"/>
          <p:cNvSpPr/>
          <p:nvPr/>
        </p:nvSpPr>
        <p:spPr>
          <a:xfrm>
            <a:off x="4160520" y="3703320"/>
            <a:ext cx="3154680" cy="320040"/>
          </a:xfrm>
          <a:prstGeom prst="rect">
            <a:avLst/>
          </a:prstGeom>
          <a:noFill/>
          <a:ln/>
        </p:spPr>
        <p:txBody>
          <a:bodyPr wrap="square" lIns="0" tIns="0" rIns="0" bIns="0" rtlCol="0" anchor="ctr"/>
          <a:lstStyle/>
          <a:p>
            <a:pPr marL="0" indent="0">
              <a:buNone/>
            </a:pPr>
            <a:r>
              <a:rPr lang="en-US" sz="1300" b="1" dirty="0">
                <a:solidFill>
                  <a:srgbClr val="0C1726"/>
                </a:solidFill>
                <a:latin typeface="Arial" pitchFamily="34" charset="0"/>
                <a:ea typeface="Arial" pitchFamily="34" charset="-122"/>
                <a:cs typeface="Arial" pitchFamily="34" charset="-120"/>
              </a:rPr>
              <a:t>Tools we use</a:t>
            </a:r>
            <a:endParaRPr lang="en-US" sz="1300" dirty="0"/>
          </a:p>
        </p:txBody>
      </p:sp>
      <p:sp>
        <p:nvSpPr>
          <p:cNvPr id="30" name="Text 27"/>
          <p:cNvSpPr/>
          <p:nvPr/>
        </p:nvSpPr>
        <p:spPr>
          <a:xfrm>
            <a:off x="4160520" y="4114800"/>
            <a:ext cx="3154680" cy="36576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44505F"/>
                </a:solidFill>
                <a:latin typeface="Arial" pitchFamily="34" charset="0"/>
                <a:ea typeface="Arial" pitchFamily="34" charset="-122"/>
                <a:cs typeface="Arial" pitchFamily="34" charset="-120"/>
              </a:rPr>
              <a:t>Identify: the outreach tool + outreach/contacted.csv</a:t>
            </a:r>
            <a:endParaRPr lang="en-US" sz="1100" dirty="0"/>
          </a:p>
          <a:p>
            <a:pPr marL="342900" indent="-342900">
              <a:spcAft>
                <a:spcPts val="800"/>
              </a:spcAft>
              <a:buSzPct val="100000"/>
              <a:buChar char="•"/>
            </a:pPr>
            <a:r>
              <a:rPr lang="en-US" sz="1100" dirty="0">
                <a:solidFill>
                  <a:srgbClr val="44505F"/>
                </a:solidFill>
                <a:latin typeface="Arial" pitchFamily="34" charset="0"/>
                <a:ea typeface="Arial" pitchFamily="34" charset="-122"/>
                <a:cs typeface="Arial" pitchFamily="34" charset="-120"/>
              </a:rPr>
              <a:t>Demo &amp; Trial: Zoom + the Dispango demo number</a:t>
            </a:r>
            <a:endParaRPr lang="en-US" sz="1100" dirty="0"/>
          </a:p>
          <a:p>
            <a:pPr marL="342900" indent="-342900">
              <a:spcAft>
                <a:spcPts val="800"/>
              </a:spcAft>
              <a:buSzPct val="100000"/>
              <a:buChar char="•"/>
            </a:pPr>
            <a:r>
              <a:rPr lang="en-US" sz="1100" dirty="0">
                <a:solidFill>
                  <a:srgbClr val="44505F"/>
                </a:solidFill>
                <a:latin typeface="Arial" pitchFamily="34" charset="0"/>
                <a:ea typeface="Arial" pitchFamily="34" charset="-122"/>
                <a:cs typeface="Arial" pitchFamily="34" charset="-120"/>
              </a:rPr>
              <a:t>Follow-up: the call recording + the lead-text screenshot</a:t>
            </a:r>
            <a:endParaRPr lang="en-US" sz="1100" dirty="0"/>
          </a:p>
          <a:p>
            <a:pPr marL="342900" indent="-342900">
              <a:spcAft>
                <a:spcPts val="800"/>
              </a:spcAft>
              <a:buSzPct val="100000"/>
              <a:buChar char="•"/>
            </a:pPr>
            <a:r>
              <a:rPr lang="en-US" sz="1100" dirty="0">
                <a:solidFill>
                  <a:srgbClr val="44505F"/>
                </a:solidFill>
                <a:latin typeface="Arial" pitchFamily="34" charset="0"/>
                <a:ea typeface="Arial" pitchFamily="34" charset="-122"/>
                <a:cs typeface="Arial" pitchFamily="34" charset="-120"/>
              </a:rPr>
              <a:t>Trials &amp; onboarding: the admin tool (admin-ui → admin API)</a:t>
            </a:r>
            <a:endParaRPr lang="en-US" sz="1100" dirty="0"/>
          </a:p>
          <a:p>
            <a:pPr marL="342900" indent="-342900">
              <a:spcAft>
                <a:spcPts val="800"/>
              </a:spcAft>
              <a:buSzPct val="100000"/>
              <a:buChar char="•"/>
            </a:pPr>
            <a:r>
              <a:rPr lang="en-US" sz="1100" dirty="0">
                <a:solidFill>
                  <a:srgbClr val="44505F"/>
                </a:solidFill>
                <a:latin typeface="Arial" pitchFamily="34" charset="0"/>
                <a:ea typeface="Arial" pitchFamily="34" charset="-122"/>
                <a:cs typeface="Arial" pitchFamily="34" charset="-120"/>
              </a:rPr>
              <a:t>Legitimacy: the dispango.com website</a:t>
            </a:r>
            <a:endParaRPr lang="en-US" sz="1100" dirty="0"/>
          </a:p>
        </p:txBody>
      </p:sp>
    </p:spTree>
    <p:extLst>
      <p:ext uri="{BB962C8B-B14F-4D97-AF65-F5344CB8AC3E}">
        <p14:creationId xmlns:p14="http://schemas.microsoft.com/office/powerpoint/2010/main" val="3004219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48640" y="457200"/>
            <a:ext cx="292608" cy="292608"/>
          </a:xfrm>
          <a:prstGeom prst="rect">
            <a:avLst/>
          </a:prstGeom>
        </p:spPr>
      </p:pic>
      <p:sp>
        <p:nvSpPr>
          <p:cNvPr id="3" name="Text 0"/>
          <p:cNvSpPr/>
          <p:nvPr/>
        </p:nvSpPr>
        <p:spPr>
          <a:xfrm>
            <a:off x="932688" y="438912"/>
            <a:ext cx="4114800" cy="329184"/>
          </a:xfrm>
          <a:prstGeom prst="rect">
            <a:avLst/>
          </a:prstGeom>
          <a:noFill/>
          <a:ln/>
        </p:spPr>
        <p:txBody>
          <a:bodyPr wrap="square" lIns="0" tIns="0" rIns="0" bIns="0" rtlCol="0" anchor="ctr"/>
          <a:lstStyle/>
          <a:p>
            <a:pPr marL="0" indent="0">
              <a:buNone/>
            </a:pPr>
            <a:r>
              <a:rPr lang="en-US" sz="1100" b="1" dirty="0">
                <a:solidFill>
                  <a:srgbClr val="0C1726"/>
                </a:solidFill>
                <a:latin typeface="Arial" pitchFamily="34" charset="0"/>
                <a:ea typeface="Arial" pitchFamily="34" charset="-122"/>
                <a:cs typeface="Arial" pitchFamily="34" charset="-120"/>
              </a:rPr>
              <a:t>Dispango Sales Playbook</a:t>
            </a:r>
            <a:endParaRPr lang="en-US" sz="1100" dirty="0"/>
          </a:p>
        </p:txBody>
      </p:sp>
      <p:sp>
        <p:nvSpPr>
          <p:cNvPr id="4" name="Text 1"/>
          <p:cNvSpPr/>
          <p:nvPr/>
        </p:nvSpPr>
        <p:spPr>
          <a:xfrm>
            <a:off x="4846320" y="438912"/>
            <a:ext cx="2377440" cy="329184"/>
          </a:xfrm>
          <a:prstGeom prst="rect">
            <a:avLst/>
          </a:prstGeom>
          <a:noFill/>
          <a:ln/>
        </p:spPr>
        <p:txBody>
          <a:bodyPr wrap="square" lIns="0" tIns="0" rIns="0" bIns="0" rtlCol="0" anchor="ctr"/>
          <a:lstStyle/>
          <a:p>
            <a:pPr marL="0" indent="0" algn="r">
              <a:buNone/>
            </a:pPr>
            <a:r>
              <a:rPr lang="en-US" sz="1000" dirty="0">
                <a:solidFill>
                  <a:srgbClr val="8A97A8"/>
                </a:solidFill>
                <a:latin typeface="Arial" pitchFamily="34" charset="0"/>
                <a:ea typeface="Arial" pitchFamily="34" charset="-122"/>
                <a:cs typeface="Arial" pitchFamily="34" charset="-120"/>
              </a:rPr>
              <a:t>Stage 1 of 5</a:t>
            </a:r>
            <a:endParaRPr lang="en-US" sz="1000" dirty="0"/>
          </a:p>
        </p:txBody>
      </p:sp>
      <p:sp>
        <p:nvSpPr>
          <p:cNvPr id="5" name="Shape 2"/>
          <p:cNvSpPr/>
          <p:nvPr/>
        </p:nvSpPr>
        <p:spPr>
          <a:xfrm>
            <a:off x="548640" y="868680"/>
            <a:ext cx="6675120" cy="12802"/>
          </a:xfrm>
          <a:prstGeom prst="rect">
            <a:avLst/>
          </a:prstGeom>
          <a:solidFill>
            <a:srgbClr val="E7EDF6"/>
          </a:solidFill>
          <a:ln/>
        </p:spPr>
        <p:txBody>
          <a:bodyPr/>
          <a:lstStyle/>
          <a:p>
            <a:endParaRPr lang="en-US"/>
          </a:p>
        </p:txBody>
      </p:sp>
      <p:sp>
        <p:nvSpPr>
          <p:cNvPr id="6" name="Text 3"/>
          <p:cNvSpPr/>
          <p:nvPr/>
        </p:nvSpPr>
        <p:spPr>
          <a:xfrm>
            <a:off x="548640" y="1051560"/>
            <a:ext cx="6675120" cy="548640"/>
          </a:xfrm>
          <a:prstGeom prst="rect">
            <a:avLst/>
          </a:prstGeom>
          <a:noFill/>
          <a:ln/>
        </p:spPr>
        <p:txBody>
          <a:bodyPr wrap="square" lIns="0" tIns="0" rIns="0" bIns="0" rtlCol="0" anchor="ctr"/>
          <a:lstStyle/>
          <a:p>
            <a:pPr marL="0" indent="0">
              <a:buNone/>
            </a:pPr>
            <a:r>
              <a:rPr lang="en-US" sz="2600" b="1" dirty="0">
                <a:solidFill>
                  <a:srgbClr val="2F6BED"/>
                </a:solidFill>
                <a:latin typeface="Arial" pitchFamily="34" charset="0"/>
                <a:ea typeface="Arial" pitchFamily="34" charset="-122"/>
                <a:cs typeface="Arial" pitchFamily="34" charset="-120"/>
              </a:rPr>
              <a:t>01   </a:t>
            </a:r>
            <a:r>
              <a:rPr lang="en-US" sz="2600" b="1" dirty="0">
                <a:solidFill>
                  <a:srgbClr val="0C1726"/>
                </a:solidFill>
                <a:latin typeface="Arial" pitchFamily="34" charset="0"/>
                <a:ea typeface="Arial" pitchFamily="34" charset="-122"/>
                <a:cs typeface="Arial" pitchFamily="34" charset="-120"/>
              </a:rPr>
              <a:t>Identify prospects</a:t>
            </a:r>
            <a:endParaRPr lang="en-US" sz="2600" dirty="0"/>
          </a:p>
        </p:txBody>
      </p:sp>
      <p:sp>
        <p:nvSpPr>
          <p:cNvPr id="7" name="Shape 4"/>
          <p:cNvSpPr/>
          <p:nvPr/>
        </p:nvSpPr>
        <p:spPr>
          <a:xfrm>
            <a:off x="548640" y="1737360"/>
            <a:ext cx="6675120" cy="731520"/>
          </a:xfrm>
          <a:prstGeom prst="roundRect">
            <a:avLst>
              <a:gd name="adj" fmla="val 12500"/>
            </a:avLst>
          </a:prstGeom>
          <a:solidFill>
            <a:srgbClr val="F4F8FD"/>
          </a:solidFill>
          <a:ln w="12700">
            <a:solidFill>
              <a:srgbClr val="E7EDF6"/>
            </a:solidFill>
            <a:prstDash val="solid"/>
          </a:ln>
        </p:spPr>
        <p:txBody>
          <a:bodyPr/>
          <a:lstStyle/>
          <a:p>
            <a:endParaRPr lang="en-US"/>
          </a:p>
        </p:txBody>
      </p:sp>
      <p:sp>
        <p:nvSpPr>
          <p:cNvPr id="8" name="Text 5"/>
          <p:cNvSpPr/>
          <p:nvPr/>
        </p:nvSpPr>
        <p:spPr>
          <a:xfrm>
            <a:off x="804672" y="1737360"/>
            <a:ext cx="6163056" cy="731520"/>
          </a:xfrm>
          <a:prstGeom prst="rect">
            <a:avLst/>
          </a:prstGeom>
          <a:noFill/>
          <a:ln/>
        </p:spPr>
        <p:txBody>
          <a:bodyPr wrap="square" lIns="0" tIns="0" rIns="0" bIns="0" rtlCol="0" anchor="ctr"/>
          <a:lstStyle/>
          <a:p>
            <a:pPr marL="0" indent="0">
              <a:buNone/>
            </a:pPr>
            <a:r>
              <a:rPr lang="en-US" sz="1000" b="1" dirty="0">
                <a:solidFill>
                  <a:srgbClr val="2F6BED"/>
                </a:solidFill>
                <a:latin typeface="Arial" pitchFamily="34" charset="0"/>
                <a:ea typeface="Arial" pitchFamily="34" charset="-122"/>
                <a:cs typeface="Arial" pitchFamily="34" charset="-120"/>
              </a:rPr>
              <a:t>GOAL   </a:t>
            </a:r>
            <a:r>
              <a:rPr lang="en-US" sz="1200" dirty="0">
                <a:solidFill>
                  <a:srgbClr val="0C1726"/>
                </a:solidFill>
                <a:latin typeface="Arial" pitchFamily="34" charset="0"/>
                <a:ea typeface="Arial" pitchFamily="34" charset="-122"/>
                <a:cs typeface="Arial" pitchFamily="34" charset="-120"/>
              </a:rPr>
              <a:t>Build a steady list of service businesses worth calling locksmiths, home-service contractors, rental offices.</a:t>
            </a:r>
            <a:endParaRPr lang="en-US" sz="1000" dirty="0"/>
          </a:p>
        </p:txBody>
      </p:sp>
      <p:sp>
        <p:nvSpPr>
          <p:cNvPr id="9" name="Text 6"/>
          <p:cNvSpPr/>
          <p:nvPr/>
        </p:nvSpPr>
        <p:spPr>
          <a:xfrm>
            <a:off x="548640" y="2743200"/>
            <a:ext cx="320040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DO THIS</a:t>
            </a:r>
            <a:endParaRPr lang="en-US" sz="1100" dirty="0"/>
          </a:p>
        </p:txBody>
      </p:sp>
      <p:sp>
        <p:nvSpPr>
          <p:cNvPr id="10" name="Text 7"/>
          <p:cNvSpPr/>
          <p:nvPr/>
        </p:nvSpPr>
        <p:spPr>
          <a:xfrm>
            <a:off x="548640" y="3127248"/>
            <a:ext cx="3200400" cy="4023360"/>
          </a:xfrm>
          <a:prstGeom prst="rect">
            <a:avLst/>
          </a:prstGeom>
          <a:noFill/>
          <a:ln/>
        </p:spPr>
        <p:txBody>
          <a:bodyPr wrap="square" lIns="0" tIns="0" rIns="0" bIns="0" rtlCol="0" anchor="t"/>
          <a:lstStyle/>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Pick one city or region; start local and Canadian.</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Mine Google Maps + directories for business names (search alone misses locals).</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Visit each business's own site; grab phone, published email, hours, services.</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Log to outreach/contacted.csv; dedup by domain and email.</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Prioritize 24/7, emergency, appointment-driven, owner-run businesses.</a:t>
            </a:r>
            <a:endParaRPr lang="en-US" sz="1050" dirty="0"/>
          </a:p>
        </p:txBody>
      </p:sp>
      <p:sp>
        <p:nvSpPr>
          <p:cNvPr id="11" name="Text 8"/>
          <p:cNvSpPr/>
          <p:nvPr/>
        </p:nvSpPr>
        <p:spPr>
          <a:xfrm>
            <a:off x="4114800" y="2743200"/>
            <a:ext cx="310896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TIPS</a:t>
            </a:r>
            <a:endParaRPr lang="en-US" sz="1100" dirty="0"/>
          </a:p>
        </p:txBody>
      </p:sp>
      <p:sp>
        <p:nvSpPr>
          <p:cNvPr id="12" name="Text 9"/>
          <p:cNvSpPr/>
          <p:nvPr/>
        </p:nvSpPr>
        <p:spPr>
          <a:xfrm>
            <a:off x="4114800" y="3127248"/>
            <a:ext cx="3108960" cy="402336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Use the /locksmith-outreach tool to find prospects and draft emails.</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Use the conspicuously published email only, never guess info@.</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Note one hook per prospect (after-hours claims, booking pages, reviews).</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Build a batch before you start dialing, because volume matters.</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Rental offices are a strong second vertical: the agent books apartment viewings.</a:t>
            </a:r>
            <a:endParaRPr lang="en-US" sz="1050" dirty="0"/>
          </a:p>
        </p:txBody>
      </p:sp>
      <p:sp>
        <p:nvSpPr>
          <p:cNvPr id="13" name="Shape 10"/>
          <p:cNvSpPr/>
          <p:nvPr/>
        </p:nvSpPr>
        <p:spPr>
          <a:xfrm>
            <a:off x="548640" y="7955280"/>
            <a:ext cx="6675120" cy="1600200"/>
          </a:xfrm>
          <a:prstGeom prst="roundRect">
            <a:avLst>
              <a:gd name="adj" fmla="val 5714"/>
            </a:avLst>
          </a:prstGeom>
          <a:solidFill>
            <a:srgbClr val="0C1726"/>
          </a:solidFill>
          <a:ln/>
        </p:spPr>
        <p:txBody>
          <a:bodyPr/>
          <a:lstStyle/>
          <a:p>
            <a:endParaRPr lang="en-US"/>
          </a:p>
        </p:txBody>
      </p:sp>
      <p:pic>
        <p:nvPicPr>
          <p:cNvPr id="14" name="Image 1" descr="preencoded.png"/>
          <p:cNvPicPr>
            <a:picLocks noChangeAspect="1"/>
          </p:cNvPicPr>
          <p:nvPr/>
        </p:nvPicPr>
        <p:blipFill>
          <a:blip r:embed="rId3"/>
          <a:stretch>
            <a:fillRect/>
          </a:stretch>
        </p:blipFill>
        <p:spPr>
          <a:xfrm>
            <a:off x="822960" y="8156448"/>
            <a:ext cx="237744" cy="237744"/>
          </a:xfrm>
          <a:prstGeom prst="rect">
            <a:avLst/>
          </a:prstGeom>
        </p:spPr>
      </p:pic>
      <p:sp>
        <p:nvSpPr>
          <p:cNvPr id="15" name="Text 11"/>
          <p:cNvSpPr/>
          <p:nvPr/>
        </p:nvSpPr>
        <p:spPr>
          <a:xfrm>
            <a:off x="1152144" y="8138160"/>
            <a:ext cx="5760720" cy="274320"/>
          </a:xfrm>
          <a:prstGeom prst="rect">
            <a:avLst/>
          </a:prstGeom>
          <a:noFill/>
          <a:ln/>
        </p:spPr>
        <p:txBody>
          <a:bodyPr wrap="square" lIns="0" tIns="0" rIns="0" bIns="0" rtlCol="0" anchor="ctr"/>
          <a:lstStyle/>
          <a:p>
            <a:pPr marL="0" indent="0">
              <a:buNone/>
            </a:pPr>
            <a:r>
              <a:rPr lang="en-US" sz="1100" b="1" dirty="0">
                <a:solidFill>
                  <a:srgbClr val="CADCFC"/>
                </a:solidFill>
                <a:latin typeface="Arial" pitchFamily="34" charset="0"/>
                <a:ea typeface="Arial" pitchFamily="34" charset="-122"/>
                <a:cs typeface="Arial" pitchFamily="34" charset="-120"/>
              </a:rPr>
              <a:t>Tool</a:t>
            </a:r>
            <a:endParaRPr lang="en-US" sz="1100" dirty="0"/>
          </a:p>
        </p:txBody>
      </p:sp>
      <p:sp>
        <p:nvSpPr>
          <p:cNvPr id="16" name="Text 12"/>
          <p:cNvSpPr/>
          <p:nvPr/>
        </p:nvSpPr>
        <p:spPr>
          <a:xfrm>
            <a:off x="822960" y="8503920"/>
            <a:ext cx="6126480" cy="960120"/>
          </a:xfrm>
          <a:prstGeom prst="rect">
            <a:avLst/>
          </a:prstGeom>
          <a:noFill/>
          <a:ln/>
        </p:spPr>
        <p:txBody>
          <a:bodyPr wrap="square" lIns="0" tIns="0" rIns="0" bIns="0" rtlCol="0" anchor="ctr"/>
          <a:lstStyle/>
          <a:p>
            <a:pPr marL="0" indent="0">
              <a:lnSpc>
                <a:spcPct val="120000"/>
              </a:lnSpc>
              <a:buNone/>
            </a:pPr>
            <a:r>
              <a:rPr lang="en-US" sz="1050" dirty="0">
                <a:solidFill>
                  <a:srgbClr val="FFFFFF"/>
                </a:solidFill>
                <a:latin typeface="Arial" pitchFamily="34" charset="0"/>
                <a:ea typeface="Arial" pitchFamily="34" charset="-122"/>
                <a:cs typeface="Arial" pitchFamily="34" charset="-120"/>
              </a:rPr>
              <a:t>/locksmith-outreach finds shops by city, grabs their published email, and creates ready-to-send Gmail drafts. The dedup ledger is outreach/contacted.csv; reruns check the ledger first.</a:t>
            </a:r>
            <a:endParaRPr lang="en-US" sz="1050" dirty="0"/>
          </a:p>
        </p:txBody>
      </p:sp>
    </p:spTree>
    <p:extLst>
      <p:ext uri="{BB962C8B-B14F-4D97-AF65-F5344CB8AC3E}">
        <p14:creationId xmlns:p14="http://schemas.microsoft.com/office/powerpoint/2010/main" val="977664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48640" y="457200"/>
            <a:ext cx="292608" cy="292608"/>
          </a:xfrm>
          <a:prstGeom prst="rect">
            <a:avLst/>
          </a:prstGeom>
        </p:spPr>
      </p:pic>
      <p:sp>
        <p:nvSpPr>
          <p:cNvPr id="3" name="Text 0"/>
          <p:cNvSpPr/>
          <p:nvPr/>
        </p:nvSpPr>
        <p:spPr>
          <a:xfrm>
            <a:off x="932688" y="438912"/>
            <a:ext cx="4114800" cy="329184"/>
          </a:xfrm>
          <a:prstGeom prst="rect">
            <a:avLst/>
          </a:prstGeom>
          <a:noFill/>
          <a:ln/>
        </p:spPr>
        <p:txBody>
          <a:bodyPr wrap="square" lIns="0" tIns="0" rIns="0" bIns="0" rtlCol="0" anchor="ctr"/>
          <a:lstStyle/>
          <a:p>
            <a:pPr marL="0" indent="0">
              <a:buNone/>
            </a:pPr>
            <a:r>
              <a:rPr lang="en-US" sz="1100" b="1" dirty="0">
                <a:solidFill>
                  <a:srgbClr val="0C1726"/>
                </a:solidFill>
                <a:latin typeface="Arial" pitchFamily="34" charset="0"/>
                <a:ea typeface="Arial" pitchFamily="34" charset="-122"/>
                <a:cs typeface="Arial" pitchFamily="34" charset="-120"/>
              </a:rPr>
              <a:t>Dispango Sales Playbook</a:t>
            </a:r>
            <a:endParaRPr lang="en-US" sz="1100" dirty="0"/>
          </a:p>
        </p:txBody>
      </p:sp>
      <p:sp>
        <p:nvSpPr>
          <p:cNvPr id="4" name="Text 1"/>
          <p:cNvSpPr/>
          <p:nvPr/>
        </p:nvSpPr>
        <p:spPr>
          <a:xfrm>
            <a:off x="4846320" y="438912"/>
            <a:ext cx="2377440" cy="329184"/>
          </a:xfrm>
          <a:prstGeom prst="rect">
            <a:avLst/>
          </a:prstGeom>
          <a:noFill/>
          <a:ln/>
        </p:spPr>
        <p:txBody>
          <a:bodyPr wrap="square" lIns="0" tIns="0" rIns="0" bIns="0" rtlCol="0" anchor="ctr"/>
          <a:lstStyle/>
          <a:p>
            <a:pPr marL="0" indent="0" algn="r">
              <a:buNone/>
            </a:pPr>
            <a:r>
              <a:rPr lang="en-US" sz="1000" dirty="0">
                <a:solidFill>
                  <a:srgbClr val="8A97A8"/>
                </a:solidFill>
                <a:latin typeface="Arial" pitchFamily="34" charset="0"/>
                <a:ea typeface="Arial" pitchFamily="34" charset="-122"/>
                <a:cs typeface="Arial" pitchFamily="34" charset="-120"/>
              </a:rPr>
              <a:t>Stage 2 of 5</a:t>
            </a:r>
            <a:endParaRPr lang="en-US" sz="1000" dirty="0"/>
          </a:p>
        </p:txBody>
      </p:sp>
      <p:sp>
        <p:nvSpPr>
          <p:cNvPr id="5" name="Shape 2"/>
          <p:cNvSpPr/>
          <p:nvPr/>
        </p:nvSpPr>
        <p:spPr>
          <a:xfrm>
            <a:off x="548640" y="868680"/>
            <a:ext cx="6675120" cy="12802"/>
          </a:xfrm>
          <a:prstGeom prst="rect">
            <a:avLst/>
          </a:prstGeom>
          <a:solidFill>
            <a:srgbClr val="E7EDF6"/>
          </a:solidFill>
          <a:ln/>
        </p:spPr>
        <p:txBody>
          <a:bodyPr/>
          <a:lstStyle/>
          <a:p>
            <a:endParaRPr lang="en-US"/>
          </a:p>
        </p:txBody>
      </p:sp>
      <p:sp>
        <p:nvSpPr>
          <p:cNvPr id="6" name="Text 3"/>
          <p:cNvSpPr/>
          <p:nvPr/>
        </p:nvSpPr>
        <p:spPr>
          <a:xfrm>
            <a:off x="548640" y="1051560"/>
            <a:ext cx="6675120" cy="548640"/>
          </a:xfrm>
          <a:prstGeom prst="rect">
            <a:avLst/>
          </a:prstGeom>
          <a:noFill/>
          <a:ln/>
        </p:spPr>
        <p:txBody>
          <a:bodyPr wrap="square" lIns="0" tIns="0" rIns="0" bIns="0" rtlCol="0" anchor="ctr"/>
          <a:lstStyle/>
          <a:p>
            <a:pPr marL="0" indent="0">
              <a:buNone/>
            </a:pPr>
            <a:r>
              <a:rPr lang="en-US" sz="2600" b="1" dirty="0">
                <a:solidFill>
                  <a:srgbClr val="2F6BED"/>
                </a:solidFill>
                <a:latin typeface="Arial" pitchFamily="34" charset="0"/>
                <a:ea typeface="Arial" pitchFamily="34" charset="-122"/>
                <a:cs typeface="Arial" pitchFamily="34" charset="-120"/>
              </a:rPr>
              <a:t>02   </a:t>
            </a:r>
            <a:r>
              <a:rPr lang="en-US" sz="2600" b="1" dirty="0">
                <a:solidFill>
                  <a:srgbClr val="0C1726"/>
                </a:solidFill>
                <a:latin typeface="Arial" pitchFamily="34" charset="0"/>
                <a:ea typeface="Arial" pitchFamily="34" charset="-122"/>
                <a:cs typeface="Arial" pitchFamily="34" charset="-120"/>
              </a:rPr>
              <a:t>Cold Call</a:t>
            </a:r>
            <a:endParaRPr lang="en-US" sz="2600" dirty="0"/>
          </a:p>
        </p:txBody>
      </p:sp>
      <p:sp>
        <p:nvSpPr>
          <p:cNvPr id="7" name="Shape 4"/>
          <p:cNvSpPr/>
          <p:nvPr/>
        </p:nvSpPr>
        <p:spPr>
          <a:xfrm>
            <a:off x="548640" y="1737360"/>
            <a:ext cx="6675120" cy="731520"/>
          </a:xfrm>
          <a:prstGeom prst="roundRect">
            <a:avLst>
              <a:gd name="adj" fmla="val 12500"/>
            </a:avLst>
          </a:prstGeom>
          <a:solidFill>
            <a:srgbClr val="F4F8FD"/>
          </a:solidFill>
          <a:ln w="12700">
            <a:solidFill>
              <a:srgbClr val="E7EDF6"/>
            </a:solidFill>
            <a:prstDash val="solid"/>
          </a:ln>
        </p:spPr>
        <p:txBody>
          <a:bodyPr/>
          <a:lstStyle/>
          <a:p>
            <a:endParaRPr lang="en-US"/>
          </a:p>
        </p:txBody>
      </p:sp>
      <p:sp>
        <p:nvSpPr>
          <p:cNvPr id="8" name="Text 5"/>
          <p:cNvSpPr/>
          <p:nvPr/>
        </p:nvSpPr>
        <p:spPr>
          <a:xfrm>
            <a:off x="804672" y="1737360"/>
            <a:ext cx="6163056" cy="731520"/>
          </a:xfrm>
          <a:prstGeom prst="rect">
            <a:avLst/>
          </a:prstGeom>
          <a:noFill/>
          <a:ln/>
        </p:spPr>
        <p:txBody>
          <a:bodyPr wrap="square" lIns="0" tIns="0" rIns="0" bIns="0" rtlCol="0" anchor="ctr"/>
          <a:lstStyle/>
          <a:p>
            <a:pPr marL="0" indent="0">
              <a:buNone/>
            </a:pPr>
            <a:r>
              <a:rPr lang="en-US" sz="1000" b="1" dirty="0">
                <a:solidFill>
                  <a:srgbClr val="2F6BED"/>
                </a:solidFill>
                <a:latin typeface="Arial" pitchFamily="34" charset="0"/>
                <a:ea typeface="Arial" pitchFamily="34" charset="-122"/>
                <a:cs typeface="Arial" pitchFamily="34" charset="-120"/>
              </a:rPr>
              <a:t>Get a Zoom demo booked, ideally the same day, and nothing else.</a:t>
            </a:r>
            <a:endParaRPr lang="en-US" sz="1000" dirty="0"/>
          </a:p>
        </p:txBody>
      </p:sp>
      <p:sp>
        <p:nvSpPr>
          <p:cNvPr id="9" name="Text 6"/>
          <p:cNvSpPr/>
          <p:nvPr/>
        </p:nvSpPr>
        <p:spPr>
          <a:xfrm>
            <a:off x="548640" y="2743200"/>
            <a:ext cx="320040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DO THIS</a:t>
            </a:r>
            <a:endParaRPr lang="en-US" sz="1100" dirty="0"/>
          </a:p>
        </p:txBody>
      </p:sp>
      <p:sp>
        <p:nvSpPr>
          <p:cNvPr id="10" name="Text 7"/>
          <p:cNvSpPr/>
          <p:nvPr/>
        </p:nvSpPr>
        <p:spPr>
          <a:xfrm>
            <a:off x="548640" y="3127248"/>
            <a:ext cx="3200400" cy="4023360"/>
          </a:xfrm>
          <a:prstGeom prst="rect">
            <a:avLst/>
          </a:prstGeom>
          <a:noFill/>
          <a:ln/>
        </p:spPr>
        <p:txBody>
          <a:bodyPr wrap="square" lIns="0" tIns="0" rIns="0" bIns="0" rtlCol="0" anchor="t"/>
          <a:lstStyle/>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Keep it under 10 minutes; the volume game is won here.</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Open with the pain question, then listen: “When you’re on a job or it’s after hours and a call comes in, what happens to it right now?”</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One-liner: an AI agent answers when you can’t, captures the job details, and texts you the lead, 24/7.</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Tease the Zoom as value, not a pitch: “Hop on a quick Zoom with me. I’ll show you a few ways contractors are using AI to catch more jobs, and you’ll test ours live from your own phone.”</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Book the Zoom live on the call: offer two concrete times (same day first, next morning second), send the invite while still on the phone, and confirm they received it before hanging up. The calendar link is only a fallback if they truly can’t commit to a time.</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Right after hanging up, text them the demo number and the invite: “Call this anytime. It’s what your customers would hear.”</a:t>
            </a:r>
            <a:endParaRPr lang="en-US" sz="1050" dirty="0"/>
          </a:p>
        </p:txBody>
      </p:sp>
      <p:sp>
        <p:nvSpPr>
          <p:cNvPr id="11" name="Text 8"/>
          <p:cNvSpPr/>
          <p:nvPr/>
        </p:nvSpPr>
        <p:spPr>
          <a:xfrm>
            <a:off x="4114800" y="2743200"/>
            <a:ext cx="310896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TIPS</a:t>
            </a:r>
            <a:endParaRPr lang="en-US" sz="1100" dirty="0"/>
          </a:p>
        </p:txBody>
      </p:sp>
      <p:sp>
        <p:nvSpPr>
          <p:cNvPr id="12" name="Text 9"/>
          <p:cNvSpPr/>
          <p:nvPr/>
        </p:nvSpPr>
        <p:spPr>
          <a:xfrm>
            <a:off x="4114800" y="3127248"/>
            <a:ext cx="3108960" cy="402336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Log every outcome: booked / call back / not interested / no answer.</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After three no-answer attempts, move them to the follow-up track.</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Show rate drops with every day of delay: same day beats tomorrow beats next week.</a:t>
            </a:r>
            <a:endParaRPr lang="en-US" sz="1050" dirty="0"/>
          </a:p>
          <a:p>
            <a:pPr marL="0" indent="0">
              <a:spcAft>
                <a:spcPts val="900"/>
              </a:spcAft>
              <a:buSzPct val="100000"/>
              <a:buNone/>
            </a:pPr>
            <a:r>
              <a:rPr lang="en-US" sz="1050" dirty="0">
                <a:solidFill>
                  <a:srgbClr val="44505F"/>
                </a:solidFill>
                <a:latin typeface="Arial" pitchFamily="34" charset="0"/>
                <a:ea typeface="Arial" pitchFamily="34" charset="-122"/>
                <a:cs typeface="Arial" pitchFamily="34" charset="-120"/>
              </a:rPr>
              <a:t>Stage done = Zoom booked with a confirmed time, or 3 call attempts logged.</a:t>
            </a:r>
            <a:endParaRPr lang="en-US" sz="1050" dirty="0"/>
          </a:p>
        </p:txBody>
      </p:sp>
      <p:sp>
        <p:nvSpPr>
          <p:cNvPr id="13" name="Shape 10"/>
          <p:cNvSpPr/>
          <p:nvPr/>
        </p:nvSpPr>
        <p:spPr>
          <a:xfrm>
            <a:off x="548640" y="7955280"/>
            <a:ext cx="6675120" cy="1600200"/>
          </a:xfrm>
          <a:prstGeom prst="roundRect">
            <a:avLst>
              <a:gd name="adj" fmla="val 5714"/>
            </a:avLst>
          </a:prstGeom>
          <a:solidFill>
            <a:srgbClr val="0C1726"/>
          </a:solidFill>
          <a:ln/>
        </p:spPr>
        <p:txBody>
          <a:bodyPr/>
          <a:lstStyle/>
          <a:p>
            <a:endParaRPr lang="en-US"/>
          </a:p>
        </p:txBody>
      </p:sp>
      <p:pic>
        <p:nvPicPr>
          <p:cNvPr id="14" name="Image 1" descr="preencoded.png"/>
          <p:cNvPicPr>
            <a:picLocks noChangeAspect="1"/>
          </p:cNvPicPr>
          <p:nvPr/>
        </p:nvPicPr>
        <p:blipFill>
          <a:blip r:embed="rId3"/>
          <a:stretch>
            <a:fillRect/>
          </a:stretch>
        </p:blipFill>
        <p:spPr>
          <a:xfrm>
            <a:off x="822960" y="8156448"/>
            <a:ext cx="237744" cy="237744"/>
          </a:xfrm>
          <a:prstGeom prst="rect">
            <a:avLst/>
          </a:prstGeom>
        </p:spPr>
      </p:pic>
      <p:sp>
        <p:nvSpPr>
          <p:cNvPr id="15" name="Text 11"/>
          <p:cNvSpPr/>
          <p:nvPr/>
        </p:nvSpPr>
        <p:spPr>
          <a:xfrm>
            <a:off x="1152144" y="8138160"/>
            <a:ext cx="5760720" cy="274320"/>
          </a:xfrm>
          <a:prstGeom prst="rect">
            <a:avLst/>
          </a:prstGeom>
          <a:noFill/>
          <a:ln/>
        </p:spPr>
        <p:txBody>
          <a:bodyPr wrap="square" lIns="0" tIns="0" rIns="0" bIns="0" rtlCol="0" anchor="ctr"/>
          <a:lstStyle/>
          <a:p>
            <a:pPr marL="0" indent="0">
              <a:buNone/>
            </a:pPr>
            <a:r>
              <a:rPr lang="en-US" sz="1100" b="1" dirty="0">
                <a:solidFill>
                  <a:srgbClr val="CADCFC"/>
                </a:solidFill>
                <a:latin typeface="Arial" pitchFamily="34" charset="0"/>
                <a:ea typeface="Arial" pitchFamily="34" charset="-122"/>
                <a:cs typeface="Arial" pitchFamily="34" charset="-120"/>
              </a:rPr>
              <a:t>Opener script</a:t>
            </a:r>
            <a:endParaRPr lang="en-US" sz="1100" dirty="0"/>
          </a:p>
        </p:txBody>
      </p:sp>
      <p:sp>
        <p:nvSpPr>
          <p:cNvPr id="16" name="Text 12"/>
          <p:cNvSpPr/>
          <p:nvPr/>
        </p:nvSpPr>
        <p:spPr>
          <a:xfrm>
            <a:off x="822960" y="8503920"/>
            <a:ext cx="6126480" cy="960120"/>
          </a:xfrm>
          <a:prstGeom prst="rect">
            <a:avLst/>
          </a:prstGeom>
          <a:noFill/>
          <a:ln/>
        </p:spPr>
        <p:txBody>
          <a:bodyPr wrap="square" lIns="0" tIns="0" rIns="0" bIns="0" rtlCol="0" anchor="ctr"/>
          <a:lstStyle/>
          <a:p>
            <a:pPr marL="0" indent="0">
              <a:lnSpc>
                <a:spcPct val="120000"/>
              </a:lnSpc>
              <a:buNone/>
            </a:pPr>
            <a:r>
              <a:rPr lang="en-US" sz="1050" i="1" dirty="0">
                <a:solidFill>
                  <a:srgbClr val="FFFFFF"/>
                </a:solidFill>
                <a:latin typeface="Arial" pitchFamily="34" charset="0"/>
                <a:ea typeface="Arial" pitchFamily="34" charset="-122"/>
                <a:cs typeface="Arial" pitchFamily="34" charset="-120"/>
              </a:rPr>
              <a:t>“Hi [name], it’s [you] with Dispango. Quick one: when you’re on a job or it’s after hours and a call comes in, what happens to it right now?” … “That’s exactly what we fix. Hop on a quick Zoom and you’ll test it from your own phone. I’ve got 4:00 today or 9:00 tomorrow. Which works? I’ll send the invite now.”</a:t>
            </a:r>
            <a:endParaRPr lang="en-US" sz="1050" dirty="0"/>
          </a:p>
        </p:txBody>
      </p:sp>
    </p:spTree>
    <p:extLst>
      <p:ext uri="{BB962C8B-B14F-4D97-AF65-F5344CB8AC3E}">
        <p14:creationId xmlns:p14="http://schemas.microsoft.com/office/powerpoint/2010/main" val="1586856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48640" y="457200"/>
            <a:ext cx="292608" cy="292608"/>
          </a:xfrm>
          <a:prstGeom prst="rect">
            <a:avLst/>
          </a:prstGeom>
        </p:spPr>
      </p:pic>
      <p:sp>
        <p:nvSpPr>
          <p:cNvPr id="3" name="Text 0"/>
          <p:cNvSpPr/>
          <p:nvPr/>
        </p:nvSpPr>
        <p:spPr>
          <a:xfrm>
            <a:off x="932688" y="438912"/>
            <a:ext cx="4114800" cy="329184"/>
          </a:xfrm>
          <a:prstGeom prst="rect">
            <a:avLst/>
          </a:prstGeom>
          <a:noFill/>
          <a:ln/>
        </p:spPr>
        <p:txBody>
          <a:bodyPr wrap="square" lIns="0" tIns="0" rIns="0" bIns="0" rtlCol="0" anchor="ctr"/>
          <a:lstStyle/>
          <a:p>
            <a:pPr marL="0" indent="0">
              <a:buNone/>
            </a:pPr>
            <a:r>
              <a:rPr lang="en-US" sz="1100" b="1" dirty="0">
                <a:solidFill>
                  <a:srgbClr val="0C1726"/>
                </a:solidFill>
                <a:latin typeface="Arial" pitchFamily="34" charset="0"/>
                <a:ea typeface="Arial" pitchFamily="34" charset="-122"/>
                <a:cs typeface="Arial" pitchFamily="34" charset="-120"/>
              </a:rPr>
              <a:t>Dispango Sales Playbook</a:t>
            </a:r>
            <a:endParaRPr lang="en-US" sz="1100" dirty="0"/>
          </a:p>
        </p:txBody>
      </p:sp>
      <p:sp>
        <p:nvSpPr>
          <p:cNvPr id="4" name="Text 1"/>
          <p:cNvSpPr/>
          <p:nvPr/>
        </p:nvSpPr>
        <p:spPr>
          <a:xfrm>
            <a:off x="4846320" y="438912"/>
            <a:ext cx="2377440" cy="329184"/>
          </a:xfrm>
          <a:prstGeom prst="rect">
            <a:avLst/>
          </a:prstGeom>
          <a:noFill/>
          <a:ln/>
        </p:spPr>
        <p:txBody>
          <a:bodyPr wrap="square" lIns="0" tIns="0" rIns="0" bIns="0" rtlCol="0" anchor="ctr"/>
          <a:lstStyle/>
          <a:p>
            <a:pPr marL="0" indent="0" algn="r">
              <a:buNone/>
            </a:pPr>
            <a:r>
              <a:rPr lang="en-US" sz="1000" dirty="0">
                <a:solidFill>
                  <a:srgbClr val="8A97A8"/>
                </a:solidFill>
                <a:latin typeface="Arial" pitchFamily="34" charset="0"/>
                <a:ea typeface="Arial" pitchFamily="34" charset="-122"/>
                <a:cs typeface="Arial" pitchFamily="34" charset="-120"/>
              </a:rPr>
              <a:t>Stage 3 of 5</a:t>
            </a:r>
            <a:endParaRPr lang="en-US" sz="1000" dirty="0"/>
          </a:p>
        </p:txBody>
      </p:sp>
      <p:sp>
        <p:nvSpPr>
          <p:cNvPr id="5" name="Shape 2"/>
          <p:cNvSpPr/>
          <p:nvPr/>
        </p:nvSpPr>
        <p:spPr>
          <a:xfrm>
            <a:off x="548640" y="868680"/>
            <a:ext cx="6675120" cy="12802"/>
          </a:xfrm>
          <a:prstGeom prst="rect">
            <a:avLst/>
          </a:prstGeom>
          <a:solidFill>
            <a:srgbClr val="E7EDF6"/>
          </a:solidFill>
          <a:ln/>
        </p:spPr>
        <p:txBody>
          <a:bodyPr/>
          <a:lstStyle/>
          <a:p>
            <a:endParaRPr lang="en-US"/>
          </a:p>
        </p:txBody>
      </p:sp>
      <p:sp>
        <p:nvSpPr>
          <p:cNvPr id="6" name="Text 3"/>
          <p:cNvSpPr/>
          <p:nvPr/>
        </p:nvSpPr>
        <p:spPr>
          <a:xfrm>
            <a:off x="548640" y="1051560"/>
            <a:ext cx="6675120" cy="548640"/>
          </a:xfrm>
          <a:prstGeom prst="rect">
            <a:avLst/>
          </a:prstGeom>
          <a:noFill/>
          <a:ln/>
        </p:spPr>
        <p:txBody>
          <a:bodyPr wrap="square" lIns="0" tIns="0" rIns="0" bIns="0" rtlCol="0" anchor="ctr"/>
          <a:lstStyle/>
          <a:p>
            <a:pPr marL="0" indent="0">
              <a:buNone/>
            </a:pPr>
            <a:r>
              <a:rPr lang="en-US" sz="2600" b="1" dirty="0">
                <a:solidFill>
                  <a:srgbClr val="2F6BED"/>
                </a:solidFill>
                <a:latin typeface="Arial" pitchFamily="34" charset="0"/>
                <a:ea typeface="Arial" pitchFamily="34" charset="-122"/>
                <a:cs typeface="Arial" pitchFamily="34" charset="-120"/>
              </a:rPr>
              <a:t>03   </a:t>
            </a:r>
            <a:r>
              <a:rPr lang="en-US" sz="2600" b="1" dirty="0">
                <a:solidFill>
                  <a:srgbClr val="0C1726"/>
                </a:solidFill>
                <a:latin typeface="Arial" pitchFamily="34" charset="0"/>
                <a:ea typeface="Arial" pitchFamily="34" charset="-122"/>
                <a:cs typeface="Arial" pitchFamily="34" charset="-120"/>
              </a:rPr>
              <a:t>Demo &amp; Trial</a:t>
            </a:r>
            <a:endParaRPr lang="en-US" sz="2600" dirty="0"/>
          </a:p>
        </p:txBody>
      </p:sp>
      <p:sp>
        <p:nvSpPr>
          <p:cNvPr id="7" name="Shape 4"/>
          <p:cNvSpPr/>
          <p:nvPr/>
        </p:nvSpPr>
        <p:spPr>
          <a:xfrm>
            <a:off x="548640" y="1737360"/>
            <a:ext cx="6675120" cy="731520"/>
          </a:xfrm>
          <a:prstGeom prst="roundRect">
            <a:avLst>
              <a:gd name="adj" fmla="val 12500"/>
            </a:avLst>
          </a:prstGeom>
          <a:solidFill>
            <a:srgbClr val="F4F8FD"/>
          </a:solidFill>
          <a:ln w="12700">
            <a:solidFill>
              <a:srgbClr val="E7EDF6"/>
            </a:solidFill>
            <a:prstDash val="solid"/>
          </a:ln>
        </p:spPr>
        <p:txBody>
          <a:bodyPr/>
          <a:lstStyle/>
          <a:p>
            <a:endParaRPr lang="en-US"/>
          </a:p>
        </p:txBody>
      </p:sp>
      <p:sp>
        <p:nvSpPr>
          <p:cNvPr id="8" name="Text 5"/>
          <p:cNvSpPr/>
          <p:nvPr/>
        </p:nvSpPr>
        <p:spPr>
          <a:xfrm>
            <a:off x="804672" y="1737360"/>
            <a:ext cx="6163056" cy="731520"/>
          </a:xfrm>
          <a:prstGeom prst="rect">
            <a:avLst/>
          </a:prstGeom>
          <a:noFill/>
          <a:ln/>
        </p:spPr>
        <p:txBody>
          <a:bodyPr wrap="square" lIns="0" tIns="0" rIns="0" bIns="0" rtlCol="0" anchor="ctr"/>
          <a:lstStyle/>
          <a:p>
            <a:pPr marL="0" indent="0">
              <a:buNone/>
            </a:pPr>
            <a:r>
              <a:rPr lang="en-US" sz="1000" b="1" dirty="0">
                <a:solidFill>
                  <a:srgbClr val="2F6BED"/>
                </a:solidFill>
                <a:latin typeface="Arial" pitchFamily="34" charset="0"/>
                <a:ea typeface="Arial" pitchFamily="34" charset="-122"/>
                <a:cs typeface="Arial" pitchFamily="34" charset="-120"/>
              </a:rPr>
              <a:t>Deliver real value on Zoom, let them test the agent live, and start a one-week free trial.</a:t>
            </a:r>
            <a:endParaRPr lang="en-US" sz="1000" dirty="0"/>
          </a:p>
        </p:txBody>
      </p:sp>
      <p:sp>
        <p:nvSpPr>
          <p:cNvPr id="9" name="Text 6"/>
          <p:cNvSpPr/>
          <p:nvPr/>
        </p:nvSpPr>
        <p:spPr>
          <a:xfrm>
            <a:off x="548640" y="2743200"/>
            <a:ext cx="320040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DO THIS</a:t>
            </a:r>
            <a:endParaRPr lang="en-US" sz="1100" dirty="0"/>
          </a:p>
        </p:txBody>
      </p:sp>
      <p:sp>
        <p:nvSpPr>
          <p:cNvPr id="10" name="Text 7"/>
          <p:cNvSpPr/>
          <p:nvPr/>
        </p:nvSpPr>
        <p:spPr>
          <a:xfrm>
            <a:off x="548640" y="3127248"/>
            <a:ext cx="3200400" cy="4023360"/>
          </a:xfrm>
          <a:prstGeom prst="rect">
            <a:avLst/>
          </a:prstGeom>
          <a:noFill/>
          <a:ln/>
        </p:spPr>
        <p:txBody>
          <a:bodyPr wrap="square" lIns="0" tIns="0" rIns="0" bIns="0" rtlCol="0" anchor="t"/>
          <a:lstStyle/>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Before the call, set the demo agent’s lead-text destination to the prospect’s cell number in the admin tool.</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Open with 5 minutes of pure value: how contractors are using AI to win more jobs, from missed-call capture and after-hours booking to rental offices auto-booking apartment viewings. Teach, don’t pitch.</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Replay their pain from the cold call, in their own words.</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The live test: they call the demo number from their cell while on Zoom, playing the customer. When they hang up, the structured lead text arrives on their own phone within seconds. Let that moment breathe.</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Offer the trial: one week free, they forward busy and no-answer calls, they keep every lead captured, with no strings attached.</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Start the trial before the Zoom ends if possible: set up call forwarding together and place one test call to confirm it works.</a:t>
            </a:r>
            <a:endParaRPr lang="en-US" sz="1050" dirty="0"/>
          </a:p>
        </p:txBody>
      </p:sp>
      <p:sp>
        <p:nvSpPr>
          <p:cNvPr id="11" name="Text 8"/>
          <p:cNvSpPr/>
          <p:nvPr/>
        </p:nvSpPr>
        <p:spPr>
          <a:xfrm>
            <a:off x="4114800" y="2743200"/>
            <a:ext cx="310896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TIPS</a:t>
            </a:r>
            <a:endParaRPr lang="en-US" sz="1100" dirty="0"/>
          </a:p>
        </p:txBody>
      </p:sp>
      <p:sp>
        <p:nvSpPr>
          <p:cNvPr id="12" name="Text 9"/>
          <p:cNvSpPr/>
          <p:nvPr/>
        </p:nvSpPr>
        <p:spPr>
          <a:xfrm>
            <a:off x="4114800" y="3127248"/>
            <a:ext cx="3108960" cy="402336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The value section makes the meeting worth their time, even if they never buy.</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The trial is also qualification: if their phone never rings, the product isn’t for them, and that’s fine.</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A trial that starts same-day converts better than one that starts next week.</a:t>
            </a:r>
            <a:endParaRPr lang="en-US" sz="1050" dirty="0"/>
          </a:p>
          <a:p>
            <a:pPr marL="0" indent="0">
              <a:spcAft>
                <a:spcPts val="900"/>
              </a:spcAft>
              <a:buSzPct val="100000"/>
              <a:buNone/>
            </a:pPr>
            <a:r>
              <a:rPr lang="en-US" sz="1050" dirty="0">
                <a:solidFill>
                  <a:srgbClr val="44505F"/>
                </a:solidFill>
                <a:latin typeface="Arial" pitchFamily="34" charset="0"/>
                <a:ea typeface="Arial" pitchFamily="34" charset="-122"/>
                <a:cs typeface="Arial" pitchFamily="34" charset="-120"/>
              </a:rPr>
              <a:t>Stage done = trial live, forwarding confirmed with a test call.</a:t>
            </a:r>
            <a:endParaRPr lang="en-US" sz="1050" dirty="0"/>
          </a:p>
        </p:txBody>
      </p:sp>
      <p:sp>
        <p:nvSpPr>
          <p:cNvPr id="13" name="Shape 10"/>
          <p:cNvSpPr/>
          <p:nvPr/>
        </p:nvSpPr>
        <p:spPr>
          <a:xfrm>
            <a:off x="548640" y="7955280"/>
            <a:ext cx="6675120" cy="1600200"/>
          </a:xfrm>
          <a:prstGeom prst="roundRect">
            <a:avLst>
              <a:gd name="adj" fmla="val 5714"/>
            </a:avLst>
          </a:prstGeom>
          <a:solidFill>
            <a:srgbClr val="0C1726"/>
          </a:solidFill>
          <a:ln/>
        </p:spPr>
        <p:txBody>
          <a:bodyPr/>
          <a:lstStyle/>
          <a:p>
            <a:endParaRPr lang="en-US"/>
          </a:p>
        </p:txBody>
      </p:sp>
      <p:pic>
        <p:nvPicPr>
          <p:cNvPr id="14" name="Image 1" descr="preencoded.png"/>
          <p:cNvPicPr>
            <a:picLocks noChangeAspect="1"/>
          </p:cNvPicPr>
          <p:nvPr/>
        </p:nvPicPr>
        <p:blipFill>
          <a:blip r:embed="rId3"/>
          <a:stretch>
            <a:fillRect/>
          </a:stretch>
        </p:blipFill>
        <p:spPr>
          <a:xfrm>
            <a:off x="822960" y="8156448"/>
            <a:ext cx="237744" cy="237744"/>
          </a:xfrm>
          <a:prstGeom prst="rect">
            <a:avLst/>
          </a:prstGeom>
        </p:spPr>
      </p:pic>
      <p:sp>
        <p:nvSpPr>
          <p:cNvPr id="15" name="Text 11"/>
          <p:cNvSpPr/>
          <p:nvPr/>
        </p:nvSpPr>
        <p:spPr>
          <a:xfrm>
            <a:off x="1152144" y="8138160"/>
            <a:ext cx="5760720" cy="274320"/>
          </a:xfrm>
          <a:prstGeom prst="rect">
            <a:avLst/>
          </a:prstGeom>
          <a:noFill/>
          <a:ln/>
        </p:spPr>
        <p:txBody>
          <a:bodyPr wrap="square" lIns="0" tIns="0" rIns="0" bIns="0" rtlCol="0" anchor="ctr"/>
          <a:lstStyle/>
          <a:p>
            <a:pPr marL="0" indent="0">
              <a:buNone/>
            </a:pPr>
            <a:r>
              <a:rPr lang="en-US" sz="1100" b="1" dirty="0">
                <a:solidFill>
                  <a:srgbClr val="CADCFC"/>
                </a:solidFill>
                <a:latin typeface="Arial" pitchFamily="34" charset="0"/>
                <a:ea typeface="Arial" pitchFamily="34" charset="-122"/>
                <a:cs typeface="Arial" pitchFamily="34" charset="-120"/>
              </a:rPr>
              <a:t>Trial offer</a:t>
            </a:r>
            <a:endParaRPr lang="en-US" sz="1100" dirty="0"/>
          </a:p>
        </p:txBody>
      </p:sp>
      <p:sp>
        <p:nvSpPr>
          <p:cNvPr id="16" name="Text 12"/>
          <p:cNvSpPr/>
          <p:nvPr/>
        </p:nvSpPr>
        <p:spPr>
          <a:xfrm>
            <a:off x="822960" y="8503920"/>
            <a:ext cx="6126480" cy="960120"/>
          </a:xfrm>
          <a:prstGeom prst="rect">
            <a:avLst/>
          </a:prstGeom>
          <a:noFill/>
          <a:ln/>
        </p:spPr>
        <p:txBody>
          <a:bodyPr wrap="square" lIns="0" tIns="0" rIns="0" bIns="0" rtlCol="0" anchor="ctr"/>
          <a:lstStyle/>
          <a:p>
            <a:pPr marL="0" indent="0">
              <a:lnSpc>
                <a:spcPct val="120000"/>
              </a:lnSpc>
              <a:buNone/>
            </a:pPr>
            <a:r>
              <a:rPr lang="en-US" sz="1050" dirty="0">
                <a:solidFill>
                  <a:srgbClr val="FFFFFF"/>
                </a:solidFill>
                <a:latin typeface="Arial" pitchFamily="34" charset="0"/>
                <a:ea typeface="Arial" pitchFamily="34" charset="-122"/>
                <a:cs typeface="Arial" pitchFamily="34" charset="-120"/>
              </a:rPr>
              <a:t>“One week free. You forward your busy and no-answer calls, the agent answers what you can’t, and you keep every lead it captures. There are no strings: if it never rings, you’ve lost nothing.”</a:t>
            </a:r>
            <a:endParaRPr lang="en-US" sz="1050" dirty="0"/>
          </a:p>
        </p:txBody>
      </p:sp>
    </p:spTree>
    <p:extLst>
      <p:ext uri="{BB962C8B-B14F-4D97-AF65-F5344CB8AC3E}">
        <p14:creationId xmlns:p14="http://schemas.microsoft.com/office/powerpoint/2010/main" val="34684014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48640" y="457200"/>
            <a:ext cx="292608" cy="292608"/>
          </a:xfrm>
          <a:prstGeom prst="rect">
            <a:avLst/>
          </a:prstGeom>
        </p:spPr>
      </p:pic>
      <p:sp>
        <p:nvSpPr>
          <p:cNvPr id="3" name="Text 0"/>
          <p:cNvSpPr/>
          <p:nvPr/>
        </p:nvSpPr>
        <p:spPr>
          <a:xfrm>
            <a:off x="932688" y="438912"/>
            <a:ext cx="4114800" cy="329184"/>
          </a:xfrm>
          <a:prstGeom prst="rect">
            <a:avLst/>
          </a:prstGeom>
          <a:noFill/>
          <a:ln/>
        </p:spPr>
        <p:txBody>
          <a:bodyPr wrap="square" lIns="0" tIns="0" rIns="0" bIns="0" rtlCol="0" anchor="ctr"/>
          <a:lstStyle/>
          <a:p>
            <a:pPr marL="0" indent="0">
              <a:buNone/>
            </a:pPr>
            <a:r>
              <a:rPr lang="en-US" sz="1100" b="1" dirty="0">
                <a:solidFill>
                  <a:srgbClr val="0C1726"/>
                </a:solidFill>
                <a:latin typeface="Arial" pitchFamily="34" charset="0"/>
                <a:ea typeface="Arial" pitchFamily="34" charset="-122"/>
                <a:cs typeface="Arial" pitchFamily="34" charset="-120"/>
              </a:rPr>
              <a:t>Dispango Sales Playbook</a:t>
            </a:r>
            <a:endParaRPr lang="en-US" sz="1100" dirty="0"/>
          </a:p>
        </p:txBody>
      </p:sp>
      <p:sp>
        <p:nvSpPr>
          <p:cNvPr id="4" name="Text 1"/>
          <p:cNvSpPr/>
          <p:nvPr/>
        </p:nvSpPr>
        <p:spPr>
          <a:xfrm>
            <a:off x="4846320" y="438912"/>
            <a:ext cx="2377440" cy="329184"/>
          </a:xfrm>
          <a:prstGeom prst="rect">
            <a:avLst/>
          </a:prstGeom>
          <a:noFill/>
          <a:ln/>
        </p:spPr>
        <p:txBody>
          <a:bodyPr wrap="square" lIns="0" tIns="0" rIns="0" bIns="0" rtlCol="0" anchor="ctr"/>
          <a:lstStyle/>
          <a:p>
            <a:pPr marL="0" indent="0" algn="r">
              <a:buNone/>
            </a:pPr>
            <a:r>
              <a:rPr lang="en-US" sz="1000" dirty="0">
                <a:solidFill>
                  <a:srgbClr val="8A97A8"/>
                </a:solidFill>
                <a:latin typeface="Arial" pitchFamily="34" charset="0"/>
                <a:ea typeface="Arial" pitchFamily="34" charset="-122"/>
                <a:cs typeface="Arial" pitchFamily="34" charset="-120"/>
              </a:rPr>
              <a:t>Between stages</a:t>
            </a:r>
            <a:endParaRPr lang="en-US" sz="1000" dirty="0"/>
          </a:p>
        </p:txBody>
      </p:sp>
      <p:sp>
        <p:nvSpPr>
          <p:cNvPr id="5" name="Shape 2"/>
          <p:cNvSpPr/>
          <p:nvPr/>
        </p:nvSpPr>
        <p:spPr>
          <a:xfrm>
            <a:off x="548640" y="868680"/>
            <a:ext cx="6675120" cy="12802"/>
          </a:xfrm>
          <a:prstGeom prst="rect">
            <a:avLst/>
          </a:prstGeom>
          <a:solidFill>
            <a:srgbClr val="E7EDF6"/>
          </a:solidFill>
          <a:ln/>
        </p:spPr>
        <p:txBody>
          <a:bodyPr/>
          <a:lstStyle/>
          <a:p>
            <a:endParaRPr lang="en-US"/>
          </a:p>
        </p:txBody>
      </p:sp>
      <p:sp>
        <p:nvSpPr>
          <p:cNvPr id="6" name="Text 3"/>
          <p:cNvSpPr/>
          <p:nvPr/>
        </p:nvSpPr>
        <p:spPr>
          <a:xfrm>
            <a:off x="548640" y="1051560"/>
            <a:ext cx="6675120" cy="548640"/>
          </a:xfrm>
          <a:prstGeom prst="rect">
            <a:avLst/>
          </a:prstGeom>
          <a:noFill/>
          <a:ln/>
        </p:spPr>
        <p:txBody>
          <a:bodyPr wrap="square" lIns="0" tIns="0" rIns="0" bIns="0" rtlCol="0" anchor="ctr"/>
          <a:lstStyle/>
          <a:p>
            <a:pPr marL="0" indent="0">
              <a:buNone/>
            </a:pPr>
            <a:r>
              <a:rPr lang="en-US" sz="2600" b="1" dirty="0">
                <a:solidFill>
                  <a:srgbClr val="2F6BED"/>
                </a:solidFill>
                <a:latin typeface="Arial" pitchFamily="34" charset="0"/>
                <a:ea typeface="Arial" pitchFamily="34" charset="-122"/>
                <a:cs typeface="Arial" pitchFamily="34" charset="-120"/>
              </a:rPr>
              <a:t>Follow-up: the motion between stages</a:t>
            </a:r>
            <a:endParaRPr lang="en-US" sz="2600" dirty="0"/>
          </a:p>
        </p:txBody>
      </p:sp>
      <p:sp>
        <p:nvSpPr>
          <p:cNvPr id="7" name="Shape 4"/>
          <p:cNvSpPr/>
          <p:nvPr/>
        </p:nvSpPr>
        <p:spPr>
          <a:xfrm>
            <a:off x="548640" y="1737360"/>
            <a:ext cx="6675120" cy="731520"/>
          </a:xfrm>
          <a:prstGeom prst="roundRect">
            <a:avLst>
              <a:gd name="adj" fmla="val 12500"/>
            </a:avLst>
          </a:prstGeom>
          <a:solidFill>
            <a:srgbClr val="F4F8FD"/>
          </a:solidFill>
          <a:ln w="12700">
            <a:solidFill>
              <a:srgbClr val="E7EDF6"/>
            </a:solidFill>
            <a:prstDash val="solid"/>
          </a:ln>
        </p:spPr>
        <p:txBody>
          <a:bodyPr/>
          <a:lstStyle/>
          <a:p>
            <a:endParaRPr lang="en-US"/>
          </a:p>
        </p:txBody>
      </p:sp>
      <p:sp>
        <p:nvSpPr>
          <p:cNvPr id="8" name="Text 5"/>
          <p:cNvSpPr/>
          <p:nvPr/>
        </p:nvSpPr>
        <p:spPr>
          <a:xfrm>
            <a:off x="804672" y="1737360"/>
            <a:ext cx="6163056" cy="731520"/>
          </a:xfrm>
          <a:prstGeom prst="rect">
            <a:avLst/>
          </a:prstGeom>
          <a:noFill/>
          <a:ln/>
        </p:spPr>
        <p:txBody>
          <a:bodyPr wrap="square" lIns="0" tIns="0" rIns="0" bIns="0" rtlCol="0" anchor="ctr"/>
          <a:lstStyle/>
          <a:p>
            <a:pPr marL="0" indent="0">
              <a:buNone/>
            </a:pPr>
            <a:r>
              <a:rPr lang="en-US" sz="1000" b="1" dirty="0">
                <a:solidFill>
                  <a:srgbClr val="2F6BED"/>
                </a:solidFill>
                <a:latin typeface="Arial" pitchFamily="34" charset="0"/>
                <a:ea typeface="Arial" pitchFamily="34" charset="-122"/>
                <a:cs typeface="Arial" pitchFamily="34" charset="-120"/>
              </a:rPr>
              <a:t>This is not a stage. Run it whenever a prospect stalls (didn’t answer, didn’t book, didn’t show, went quiet during trial): 3–4 touches over about a week.</a:t>
            </a:r>
            <a:endParaRPr lang="en-US" sz="1000" dirty="0"/>
          </a:p>
        </p:txBody>
      </p:sp>
      <p:sp>
        <p:nvSpPr>
          <p:cNvPr id="9" name="Text 6"/>
          <p:cNvSpPr/>
          <p:nvPr/>
        </p:nvSpPr>
        <p:spPr>
          <a:xfrm>
            <a:off x="548640" y="2743200"/>
            <a:ext cx="320040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DO THIS</a:t>
            </a:r>
            <a:endParaRPr lang="en-US" sz="1100" dirty="0"/>
          </a:p>
        </p:txBody>
      </p:sp>
      <p:sp>
        <p:nvSpPr>
          <p:cNvPr id="10" name="Text 7"/>
          <p:cNvSpPr/>
          <p:nvPr/>
        </p:nvSpPr>
        <p:spPr>
          <a:xfrm>
            <a:off x="548640" y="3127248"/>
            <a:ext cx="3200400" cy="4023360"/>
          </a:xfrm>
          <a:prstGeom prst="rect">
            <a:avLst/>
          </a:prstGeom>
          <a:noFill/>
          <a:ln/>
        </p:spPr>
        <p:txBody>
          <a:bodyPr wrap="square" lIns="0" tIns="0" rIns="0" bIns="0" rtlCol="0" anchor="t"/>
          <a:lstStyle/>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Same day: a short voicemail plus a text with the demo number and a 30-second recording of the agent handling a real call.</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Day 2–3: send proof, a screenshot of a lead text with one line of math on what a missed job costs.</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Day 4–5: a pattern interrupt, something human and playful that triggers a reply. Try a skeleton meme captioned “me waiting to show you the demo”, or “[Name], still want to stop missing calls or should I close your file?”</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The breakup: mark the status and stop.</a:t>
            </a:r>
            <a:endParaRPr lang="en-US" sz="1050" dirty="0"/>
          </a:p>
        </p:txBody>
      </p:sp>
      <p:sp>
        <p:nvSpPr>
          <p:cNvPr id="11" name="Text 8"/>
          <p:cNvSpPr/>
          <p:nvPr/>
        </p:nvSpPr>
        <p:spPr>
          <a:xfrm>
            <a:off x="4114800" y="2743200"/>
            <a:ext cx="310896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TIPS</a:t>
            </a:r>
            <a:endParaRPr lang="en-US" sz="1100" dirty="0"/>
          </a:p>
        </p:txBody>
      </p:sp>
      <p:sp>
        <p:nvSpPr>
          <p:cNvPr id="12" name="Text 9"/>
          <p:cNvSpPr/>
          <p:nvPr/>
        </p:nvSpPr>
        <p:spPr>
          <a:xfrm>
            <a:off x="4114800" y="3127248"/>
            <a:ext cx="3108960" cy="402336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Creativity earns replies that professionalism alone does not.</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Always reference where they left off.</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No-shows get an instant “still good for today?” text and one re-book attempt before entering this sequence.</a:t>
            </a:r>
            <a:endParaRPr lang="en-US" sz="1050" dirty="0"/>
          </a:p>
        </p:txBody>
      </p:sp>
      <p:sp>
        <p:nvSpPr>
          <p:cNvPr id="13" name="Shape 10"/>
          <p:cNvSpPr/>
          <p:nvPr/>
        </p:nvSpPr>
        <p:spPr>
          <a:xfrm>
            <a:off x="548640" y="7955280"/>
            <a:ext cx="6675120" cy="1600200"/>
          </a:xfrm>
          <a:prstGeom prst="roundRect">
            <a:avLst>
              <a:gd name="adj" fmla="val 5714"/>
            </a:avLst>
          </a:prstGeom>
          <a:solidFill>
            <a:srgbClr val="0C1726"/>
          </a:solidFill>
          <a:ln/>
        </p:spPr>
        <p:txBody>
          <a:bodyPr/>
          <a:lstStyle/>
          <a:p>
            <a:endParaRPr lang="en-US"/>
          </a:p>
        </p:txBody>
      </p:sp>
      <p:pic>
        <p:nvPicPr>
          <p:cNvPr id="14" name="Image 1" descr="preencoded.png"/>
          <p:cNvPicPr>
            <a:picLocks noChangeAspect="1"/>
          </p:cNvPicPr>
          <p:nvPr/>
        </p:nvPicPr>
        <p:blipFill>
          <a:blip r:embed="rId3"/>
          <a:stretch>
            <a:fillRect/>
          </a:stretch>
        </p:blipFill>
        <p:spPr>
          <a:xfrm>
            <a:off x="822960" y="8156448"/>
            <a:ext cx="237744" cy="237744"/>
          </a:xfrm>
          <a:prstGeom prst="rect">
            <a:avLst/>
          </a:prstGeom>
        </p:spPr>
      </p:pic>
      <p:sp>
        <p:nvSpPr>
          <p:cNvPr id="15" name="Text 11"/>
          <p:cNvSpPr/>
          <p:nvPr/>
        </p:nvSpPr>
        <p:spPr>
          <a:xfrm>
            <a:off x="1152144" y="8138160"/>
            <a:ext cx="5760720" cy="274320"/>
          </a:xfrm>
          <a:prstGeom prst="rect">
            <a:avLst/>
          </a:prstGeom>
          <a:noFill/>
          <a:ln/>
        </p:spPr>
        <p:txBody>
          <a:bodyPr wrap="square" lIns="0" tIns="0" rIns="0" bIns="0" rtlCol="0" anchor="ctr"/>
          <a:lstStyle/>
          <a:p>
            <a:pPr marL="0" indent="0">
              <a:buNone/>
            </a:pPr>
            <a:r>
              <a:rPr lang="en-US" sz="1100" b="1" dirty="0">
                <a:solidFill>
                  <a:srgbClr val="CADCFC"/>
                </a:solidFill>
                <a:latin typeface="Arial" pitchFamily="34" charset="0"/>
                <a:ea typeface="Arial" pitchFamily="34" charset="-122"/>
                <a:cs typeface="Arial" pitchFamily="34" charset="-120"/>
              </a:rPr>
              <a:t>Assets</a:t>
            </a:r>
            <a:endParaRPr lang="en-US" sz="1100" dirty="0"/>
          </a:p>
        </p:txBody>
      </p:sp>
      <p:sp>
        <p:nvSpPr>
          <p:cNvPr id="16" name="Text 12"/>
          <p:cNvSpPr/>
          <p:nvPr/>
        </p:nvSpPr>
        <p:spPr>
          <a:xfrm>
            <a:off x="822960" y="8503920"/>
            <a:ext cx="6126480" cy="960120"/>
          </a:xfrm>
          <a:prstGeom prst="rect">
            <a:avLst/>
          </a:prstGeom>
          <a:noFill/>
          <a:ln/>
        </p:spPr>
        <p:txBody>
          <a:bodyPr wrap="square" lIns="0" tIns="0" rIns="0" bIns="0" rtlCol="0" anchor="ctr"/>
          <a:lstStyle/>
          <a:p>
            <a:pPr marL="0" indent="0">
              <a:lnSpc>
                <a:spcPct val="120000"/>
              </a:lnSpc>
              <a:buNone/>
            </a:pPr>
            <a:r>
              <a:rPr lang="en-US" sz="1050" dirty="0">
                <a:solidFill>
                  <a:srgbClr val="FFFFFF"/>
                </a:solidFill>
                <a:latin typeface="Arial" pitchFamily="34" charset="0"/>
                <a:ea typeface="Arial" pitchFamily="34" charset="-122"/>
                <a:cs typeface="Arial" pitchFamily="34" charset="-120"/>
              </a:rPr>
              <a:t>The two proof artifacts, the 30-second call recording and the lead-text screenshot, live in the sales folder. Attach the recording to touch 1 and the screenshot to touch 2.</a:t>
            </a:r>
            <a:endParaRPr lang="en-US" sz="1050" dirty="0"/>
          </a:p>
        </p:txBody>
      </p:sp>
    </p:spTree>
    <p:extLst>
      <p:ext uri="{BB962C8B-B14F-4D97-AF65-F5344CB8AC3E}">
        <p14:creationId xmlns:p14="http://schemas.microsoft.com/office/powerpoint/2010/main" val="2185497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48640" y="457200"/>
            <a:ext cx="292608" cy="292608"/>
          </a:xfrm>
          <a:prstGeom prst="rect">
            <a:avLst/>
          </a:prstGeom>
        </p:spPr>
      </p:pic>
      <p:sp>
        <p:nvSpPr>
          <p:cNvPr id="3" name="Text 0"/>
          <p:cNvSpPr/>
          <p:nvPr/>
        </p:nvSpPr>
        <p:spPr>
          <a:xfrm>
            <a:off x="932688" y="438912"/>
            <a:ext cx="4114800" cy="329184"/>
          </a:xfrm>
          <a:prstGeom prst="rect">
            <a:avLst/>
          </a:prstGeom>
          <a:noFill/>
          <a:ln/>
        </p:spPr>
        <p:txBody>
          <a:bodyPr wrap="square" lIns="0" tIns="0" rIns="0" bIns="0" rtlCol="0" anchor="ctr"/>
          <a:lstStyle/>
          <a:p>
            <a:pPr marL="0" indent="0">
              <a:buNone/>
            </a:pPr>
            <a:r>
              <a:rPr lang="en-US" sz="1100" b="1" dirty="0">
                <a:solidFill>
                  <a:srgbClr val="0C1726"/>
                </a:solidFill>
                <a:latin typeface="Arial" pitchFamily="34" charset="0"/>
                <a:ea typeface="Arial" pitchFamily="34" charset="-122"/>
                <a:cs typeface="Arial" pitchFamily="34" charset="-120"/>
              </a:rPr>
              <a:t>Dispango Sales Playbook</a:t>
            </a:r>
            <a:endParaRPr lang="en-US" sz="1100" dirty="0"/>
          </a:p>
        </p:txBody>
      </p:sp>
      <p:sp>
        <p:nvSpPr>
          <p:cNvPr id="4" name="Text 1"/>
          <p:cNvSpPr/>
          <p:nvPr/>
        </p:nvSpPr>
        <p:spPr>
          <a:xfrm>
            <a:off x="4846320" y="438912"/>
            <a:ext cx="2377440" cy="329184"/>
          </a:xfrm>
          <a:prstGeom prst="rect">
            <a:avLst/>
          </a:prstGeom>
          <a:noFill/>
          <a:ln/>
        </p:spPr>
        <p:txBody>
          <a:bodyPr wrap="square" lIns="0" tIns="0" rIns="0" bIns="0" rtlCol="0" anchor="ctr"/>
          <a:lstStyle/>
          <a:p>
            <a:pPr marL="0" indent="0" algn="r">
              <a:buNone/>
            </a:pPr>
            <a:r>
              <a:rPr lang="en-US" sz="1000" dirty="0">
                <a:solidFill>
                  <a:srgbClr val="8A97A8"/>
                </a:solidFill>
                <a:latin typeface="Arial" pitchFamily="34" charset="0"/>
                <a:ea typeface="Arial" pitchFamily="34" charset="-122"/>
                <a:cs typeface="Arial" pitchFamily="34" charset="-120"/>
              </a:rPr>
              <a:t>Stage 4 of 5</a:t>
            </a:r>
            <a:endParaRPr lang="en-US" sz="1000" dirty="0"/>
          </a:p>
        </p:txBody>
      </p:sp>
      <p:sp>
        <p:nvSpPr>
          <p:cNvPr id="5" name="Shape 2"/>
          <p:cNvSpPr/>
          <p:nvPr/>
        </p:nvSpPr>
        <p:spPr>
          <a:xfrm>
            <a:off x="548640" y="868680"/>
            <a:ext cx="6675120" cy="12802"/>
          </a:xfrm>
          <a:prstGeom prst="rect">
            <a:avLst/>
          </a:prstGeom>
          <a:solidFill>
            <a:srgbClr val="E7EDF6"/>
          </a:solidFill>
          <a:ln/>
        </p:spPr>
        <p:txBody>
          <a:bodyPr/>
          <a:lstStyle/>
          <a:p>
            <a:endParaRPr lang="en-US"/>
          </a:p>
        </p:txBody>
      </p:sp>
      <p:sp>
        <p:nvSpPr>
          <p:cNvPr id="6" name="Text 3"/>
          <p:cNvSpPr/>
          <p:nvPr/>
        </p:nvSpPr>
        <p:spPr>
          <a:xfrm>
            <a:off x="548640" y="1051560"/>
            <a:ext cx="6675120" cy="548640"/>
          </a:xfrm>
          <a:prstGeom prst="rect">
            <a:avLst/>
          </a:prstGeom>
          <a:noFill/>
          <a:ln/>
        </p:spPr>
        <p:txBody>
          <a:bodyPr wrap="square" lIns="0" tIns="0" rIns="0" bIns="0" rtlCol="0" anchor="ctr"/>
          <a:lstStyle/>
          <a:p>
            <a:pPr marL="0" indent="0">
              <a:buNone/>
            </a:pPr>
            <a:r>
              <a:rPr lang="en-US" sz="2600" b="1" dirty="0">
                <a:solidFill>
                  <a:srgbClr val="2F6BED"/>
                </a:solidFill>
                <a:latin typeface="Arial" pitchFamily="34" charset="0"/>
                <a:ea typeface="Arial" pitchFamily="34" charset="-122"/>
                <a:cs typeface="Arial" pitchFamily="34" charset="-120"/>
              </a:rPr>
              <a:t>04   </a:t>
            </a:r>
            <a:r>
              <a:rPr lang="en-US" sz="2600" b="1" dirty="0">
                <a:solidFill>
                  <a:srgbClr val="0C1726"/>
                </a:solidFill>
                <a:latin typeface="Arial" pitchFamily="34" charset="0"/>
                <a:ea typeface="Arial" pitchFamily="34" charset="-122"/>
                <a:cs typeface="Arial" pitchFamily="34" charset="-120"/>
              </a:rPr>
              <a:t>Close</a:t>
            </a:r>
            <a:endParaRPr lang="en-US" sz="2600" dirty="0"/>
          </a:p>
        </p:txBody>
      </p:sp>
      <p:sp>
        <p:nvSpPr>
          <p:cNvPr id="7" name="Shape 4"/>
          <p:cNvSpPr/>
          <p:nvPr/>
        </p:nvSpPr>
        <p:spPr>
          <a:xfrm>
            <a:off x="548640" y="1737360"/>
            <a:ext cx="6675120" cy="731520"/>
          </a:xfrm>
          <a:prstGeom prst="roundRect">
            <a:avLst>
              <a:gd name="adj" fmla="val 12500"/>
            </a:avLst>
          </a:prstGeom>
          <a:solidFill>
            <a:srgbClr val="F4F8FD"/>
          </a:solidFill>
          <a:ln w="12700">
            <a:solidFill>
              <a:srgbClr val="E7EDF6"/>
            </a:solidFill>
            <a:prstDash val="solid"/>
          </a:ln>
        </p:spPr>
        <p:txBody>
          <a:bodyPr/>
          <a:lstStyle/>
          <a:p>
            <a:endParaRPr lang="en-US"/>
          </a:p>
        </p:txBody>
      </p:sp>
      <p:sp>
        <p:nvSpPr>
          <p:cNvPr id="8" name="Text 5"/>
          <p:cNvSpPr/>
          <p:nvPr/>
        </p:nvSpPr>
        <p:spPr>
          <a:xfrm>
            <a:off x="804672" y="1737360"/>
            <a:ext cx="6163056" cy="731520"/>
          </a:xfrm>
          <a:prstGeom prst="rect">
            <a:avLst/>
          </a:prstGeom>
          <a:noFill/>
          <a:ln/>
        </p:spPr>
        <p:txBody>
          <a:bodyPr wrap="square" lIns="0" tIns="0" rIns="0" bIns="0" rtlCol="0" anchor="ctr"/>
          <a:lstStyle/>
          <a:p>
            <a:pPr marL="0" indent="0">
              <a:buNone/>
            </a:pPr>
            <a:r>
              <a:rPr lang="en-US" sz="1000" b="1" dirty="0">
                <a:solidFill>
                  <a:srgbClr val="2F6BED"/>
                </a:solidFill>
                <a:latin typeface="Arial" pitchFamily="34" charset="0"/>
                <a:ea typeface="Arial" pitchFamily="34" charset="-122"/>
                <a:cs typeface="Arial" pitchFamily="34" charset="-120"/>
              </a:rPr>
              <a:t>Turn trial data into a paying customer.</a:t>
            </a:r>
            <a:endParaRPr lang="en-US" sz="1000" dirty="0"/>
          </a:p>
        </p:txBody>
      </p:sp>
      <p:sp>
        <p:nvSpPr>
          <p:cNvPr id="9" name="Text 6"/>
          <p:cNvSpPr/>
          <p:nvPr/>
        </p:nvSpPr>
        <p:spPr>
          <a:xfrm>
            <a:off x="548640" y="2743200"/>
            <a:ext cx="320040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DO THIS</a:t>
            </a:r>
            <a:endParaRPr lang="en-US" sz="1100" dirty="0"/>
          </a:p>
        </p:txBody>
      </p:sp>
      <p:sp>
        <p:nvSpPr>
          <p:cNvPr id="10" name="Text 7"/>
          <p:cNvSpPr/>
          <p:nvPr/>
        </p:nvSpPr>
        <p:spPr>
          <a:xfrm>
            <a:off x="548640" y="3127248"/>
            <a:ext cx="3200400" cy="4023360"/>
          </a:xfrm>
          <a:prstGeom prst="rect">
            <a:avLst/>
          </a:prstGeom>
          <a:noFill/>
          <a:ln/>
        </p:spPr>
        <p:txBody>
          <a:bodyPr wrap="square" lIns="0" tIns="0" rIns="0" bIns="0" rtlCol="0" anchor="t"/>
          <a:lstStyle/>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Review the trial together: how many calls the agent caught, at what hours, with the actual lead texts as evidence.</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Do the math out loud: what one of those jobs is worth against the monthly price.</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Ask for it plainly: “Want to keep it on?”</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Send the agreement and take payment on the same call.</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If the trial caught nothing, be honest: the product isn’t a fit right now. Part on good terms and leave the door open. That protects our time and our reputation.</a:t>
            </a:r>
            <a:endParaRPr lang="en-US" sz="1050" dirty="0"/>
          </a:p>
        </p:txBody>
      </p:sp>
      <p:sp>
        <p:nvSpPr>
          <p:cNvPr id="11" name="Text 8"/>
          <p:cNvSpPr/>
          <p:nvPr/>
        </p:nvSpPr>
        <p:spPr>
          <a:xfrm>
            <a:off x="4114800" y="2743200"/>
            <a:ext cx="310896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TIPS</a:t>
            </a:r>
            <a:endParaRPr lang="en-US" sz="1100" dirty="0"/>
          </a:p>
        </p:txBody>
      </p:sp>
      <p:sp>
        <p:nvSpPr>
          <p:cNvPr id="12" name="Text 9"/>
          <p:cNvSpPr/>
          <p:nvPr/>
        </p:nvSpPr>
        <p:spPr>
          <a:xfrm>
            <a:off x="4114800" y="3127248"/>
            <a:ext cx="3108960" cy="402336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The trial did the selling, so the close is arithmetic, not persuasion.</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Don’t discount on reflex; sell the cost of the missed job.</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A customer who gets no value churns anyway. Disqualifying is a win.</a:t>
            </a:r>
            <a:endParaRPr lang="en-US" sz="1050" dirty="0"/>
          </a:p>
          <a:p>
            <a:pPr marL="0" indent="0">
              <a:spcAft>
                <a:spcPts val="900"/>
              </a:spcAft>
              <a:buSzPct val="100000"/>
              <a:buNone/>
            </a:pPr>
            <a:r>
              <a:rPr lang="en-US" sz="1050" dirty="0">
                <a:solidFill>
                  <a:srgbClr val="44505F"/>
                </a:solidFill>
                <a:latin typeface="Arial" pitchFamily="34" charset="0"/>
                <a:ea typeface="Arial" pitchFamily="34" charset="-122"/>
                <a:cs typeface="Arial" pitchFamily="34" charset="-120"/>
              </a:rPr>
              <a:t>Stage done = agreement signed and payment active.</a:t>
            </a:r>
            <a:endParaRPr lang="en-US" sz="1050" dirty="0"/>
          </a:p>
        </p:txBody>
      </p:sp>
      <p:sp>
        <p:nvSpPr>
          <p:cNvPr id="13" name="Shape 10"/>
          <p:cNvSpPr/>
          <p:nvPr/>
        </p:nvSpPr>
        <p:spPr>
          <a:xfrm>
            <a:off x="548640" y="7955280"/>
            <a:ext cx="6675120" cy="1600200"/>
          </a:xfrm>
          <a:prstGeom prst="roundRect">
            <a:avLst>
              <a:gd name="adj" fmla="val 5714"/>
            </a:avLst>
          </a:prstGeom>
          <a:solidFill>
            <a:srgbClr val="0C1726"/>
          </a:solidFill>
          <a:ln/>
        </p:spPr>
        <p:txBody>
          <a:bodyPr/>
          <a:lstStyle/>
          <a:p>
            <a:endParaRPr lang="en-US"/>
          </a:p>
        </p:txBody>
      </p:sp>
      <p:pic>
        <p:nvPicPr>
          <p:cNvPr id="14" name="Image 1" descr="preencoded.png"/>
          <p:cNvPicPr>
            <a:picLocks noChangeAspect="1"/>
          </p:cNvPicPr>
          <p:nvPr/>
        </p:nvPicPr>
        <p:blipFill>
          <a:blip r:embed="rId3"/>
          <a:stretch>
            <a:fillRect/>
          </a:stretch>
        </p:blipFill>
        <p:spPr>
          <a:xfrm>
            <a:off x="822960" y="8156448"/>
            <a:ext cx="237744" cy="237744"/>
          </a:xfrm>
          <a:prstGeom prst="rect">
            <a:avLst/>
          </a:prstGeom>
        </p:spPr>
      </p:pic>
      <p:sp>
        <p:nvSpPr>
          <p:cNvPr id="15" name="Text 11"/>
          <p:cNvSpPr/>
          <p:nvPr/>
        </p:nvSpPr>
        <p:spPr>
          <a:xfrm>
            <a:off x="1152144" y="8138160"/>
            <a:ext cx="5760720" cy="274320"/>
          </a:xfrm>
          <a:prstGeom prst="rect">
            <a:avLst/>
          </a:prstGeom>
          <a:noFill/>
          <a:ln/>
        </p:spPr>
        <p:txBody>
          <a:bodyPr wrap="square" lIns="0" tIns="0" rIns="0" bIns="0" rtlCol="0" anchor="ctr"/>
          <a:lstStyle/>
          <a:p>
            <a:pPr marL="0" indent="0">
              <a:buNone/>
            </a:pPr>
            <a:r>
              <a:rPr lang="en-US" sz="1100" b="1" dirty="0">
                <a:solidFill>
                  <a:srgbClr val="CADCFC"/>
                </a:solidFill>
                <a:latin typeface="Arial" pitchFamily="34" charset="0"/>
                <a:ea typeface="Arial" pitchFamily="34" charset="-122"/>
                <a:cs typeface="Arial" pitchFamily="34" charset="-120"/>
              </a:rPr>
              <a:t>Value anchor</a:t>
            </a:r>
            <a:endParaRPr lang="en-US" sz="1100" dirty="0"/>
          </a:p>
        </p:txBody>
      </p:sp>
      <p:sp>
        <p:nvSpPr>
          <p:cNvPr id="16" name="Text 12"/>
          <p:cNvSpPr/>
          <p:nvPr/>
        </p:nvSpPr>
        <p:spPr>
          <a:xfrm>
            <a:off x="822960" y="8503920"/>
            <a:ext cx="6126480" cy="960120"/>
          </a:xfrm>
          <a:prstGeom prst="rect">
            <a:avLst/>
          </a:prstGeom>
          <a:noFill/>
          <a:ln/>
        </p:spPr>
        <p:txBody>
          <a:bodyPr wrap="square" lIns="0" tIns="0" rIns="0" bIns="0" rtlCol="0" anchor="ctr"/>
          <a:lstStyle/>
          <a:p>
            <a:pPr marL="0" indent="0">
              <a:lnSpc>
                <a:spcPct val="120000"/>
              </a:lnSpc>
              <a:buNone/>
            </a:pPr>
            <a:r>
              <a:rPr lang="en-US" sz="1050" i="1" dirty="0">
                <a:solidFill>
                  <a:srgbClr val="FFFFFF"/>
                </a:solidFill>
                <a:latin typeface="Arial" pitchFamily="34" charset="0"/>
                <a:ea typeface="Arial" pitchFamily="34" charset="-122"/>
                <a:cs typeface="Arial" pitchFamily="34" charset="-120"/>
              </a:rPr>
              <a:t>Review what the trial actually caught, then price against one missed job. Stop talking and let them react.</a:t>
            </a:r>
            <a:endParaRPr lang="en-US" sz="1050" dirty="0"/>
          </a:p>
        </p:txBody>
      </p:sp>
    </p:spTree>
    <p:extLst>
      <p:ext uri="{BB962C8B-B14F-4D97-AF65-F5344CB8AC3E}">
        <p14:creationId xmlns:p14="http://schemas.microsoft.com/office/powerpoint/2010/main" val="38376710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48640" y="457200"/>
            <a:ext cx="292608" cy="292608"/>
          </a:xfrm>
          <a:prstGeom prst="rect">
            <a:avLst/>
          </a:prstGeom>
        </p:spPr>
      </p:pic>
      <p:sp>
        <p:nvSpPr>
          <p:cNvPr id="3" name="Text 0"/>
          <p:cNvSpPr/>
          <p:nvPr/>
        </p:nvSpPr>
        <p:spPr>
          <a:xfrm>
            <a:off x="932688" y="438912"/>
            <a:ext cx="4114800" cy="329184"/>
          </a:xfrm>
          <a:prstGeom prst="rect">
            <a:avLst/>
          </a:prstGeom>
          <a:noFill/>
          <a:ln/>
        </p:spPr>
        <p:txBody>
          <a:bodyPr wrap="square" lIns="0" tIns="0" rIns="0" bIns="0" rtlCol="0" anchor="ctr"/>
          <a:lstStyle/>
          <a:p>
            <a:pPr marL="0" indent="0">
              <a:buNone/>
            </a:pPr>
            <a:r>
              <a:rPr lang="en-US" sz="1100" b="1" dirty="0">
                <a:solidFill>
                  <a:srgbClr val="0C1726"/>
                </a:solidFill>
                <a:latin typeface="Arial" pitchFamily="34" charset="0"/>
                <a:ea typeface="Arial" pitchFamily="34" charset="-122"/>
                <a:cs typeface="Arial" pitchFamily="34" charset="-120"/>
              </a:rPr>
              <a:t>Dispango Sales Playbook</a:t>
            </a:r>
            <a:endParaRPr lang="en-US" sz="1100" dirty="0"/>
          </a:p>
        </p:txBody>
      </p:sp>
      <p:sp>
        <p:nvSpPr>
          <p:cNvPr id="4" name="Text 1"/>
          <p:cNvSpPr/>
          <p:nvPr/>
        </p:nvSpPr>
        <p:spPr>
          <a:xfrm>
            <a:off x="4846320" y="438912"/>
            <a:ext cx="2377440" cy="329184"/>
          </a:xfrm>
          <a:prstGeom prst="rect">
            <a:avLst/>
          </a:prstGeom>
          <a:noFill/>
          <a:ln/>
        </p:spPr>
        <p:txBody>
          <a:bodyPr wrap="square" lIns="0" tIns="0" rIns="0" bIns="0" rtlCol="0" anchor="ctr"/>
          <a:lstStyle/>
          <a:p>
            <a:pPr marL="0" indent="0" algn="r">
              <a:buNone/>
            </a:pPr>
            <a:r>
              <a:rPr lang="en-US" sz="1000" dirty="0">
                <a:solidFill>
                  <a:srgbClr val="8A97A8"/>
                </a:solidFill>
                <a:latin typeface="Arial" pitchFamily="34" charset="0"/>
                <a:ea typeface="Arial" pitchFamily="34" charset="-122"/>
                <a:cs typeface="Arial" pitchFamily="34" charset="-120"/>
              </a:rPr>
              <a:t>Stage 5 of 5</a:t>
            </a:r>
            <a:endParaRPr lang="en-US" sz="1000" dirty="0"/>
          </a:p>
        </p:txBody>
      </p:sp>
      <p:sp>
        <p:nvSpPr>
          <p:cNvPr id="5" name="Shape 2"/>
          <p:cNvSpPr/>
          <p:nvPr/>
        </p:nvSpPr>
        <p:spPr>
          <a:xfrm>
            <a:off x="548640" y="868680"/>
            <a:ext cx="6675120" cy="12802"/>
          </a:xfrm>
          <a:prstGeom prst="rect">
            <a:avLst/>
          </a:prstGeom>
          <a:solidFill>
            <a:srgbClr val="E7EDF6"/>
          </a:solidFill>
          <a:ln/>
        </p:spPr>
        <p:txBody>
          <a:bodyPr/>
          <a:lstStyle/>
          <a:p>
            <a:endParaRPr lang="en-US"/>
          </a:p>
        </p:txBody>
      </p:sp>
      <p:sp>
        <p:nvSpPr>
          <p:cNvPr id="6" name="Text 3"/>
          <p:cNvSpPr/>
          <p:nvPr/>
        </p:nvSpPr>
        <p:spPr>
          <a:xfrm>
            <a:off x="548640" y="1051560"/>
            <a:ext cx="6675120" cy="548640"/>
          </a:xfrm>
          <a:prstGeom prst="rect">
            <a:avLst/>
          </a:prstGeom>
          <a:noFill/>
          <a:ln/>
        </p:spPr>
        <p:txBody>
          <a:bodyPr wrap="square" lIns="0" tIns="0" rIns="0" bIns="0" rtlCol="0" anchor="ctr"/>
          <a:lstStyle/>
          <a:p>
            <a:pPr marL="0" indent="0">
              <a:buNone/>
            </a:pPr>
            <a:r>
              <a:rPr lang="en-US" sz="2600" b="1" dirty="0">
                <a:solidFill>
                  <a:srgbClr val="2F6BED"/>
                </a:solidFill>
                <a:latin typeface="Arial" pitchFamily="34" charset="0"/>
                <a:ea typeface="Arial" pitchFamily="34" charset="-122"/>
                <a:cs typeface="Arial" pitchFamily="34" charset="-120"/>
              </a:rPr>
              <a:t>05   </a:t>
            </a:r>
            <a:r>
              <a:rPr lang="en-US" sz="2600" b="1" dirty="0">
                <a:solidFill>
                  <a:srgbClr val="0C1726"/>
                </a:solidFill>
                <a:latin typeface="Arial" pitchFamily="34" charset="0"/>
                <a:ea typeface="Arial" pitchFamily="34" charset="-122"/>
                <a:cs typeface="Arial" pitchFamily="34" charset="-120"/>
              </a:rPr>
              <a:t>Onboard</a:t>
            </a:r>
            <a:endParaRPr lang="en-US" sz="2600" dirty="0"/>
          </a:p>
        </p:txBody>
      </p:sp>
      <p:sp>
        <p:nvSpPr>
          <p:cNvPr id="7" name="Shape 4"/>
          <p:cNvSpPr/>
          <p:nvPr/>
        </p:nvSpPr>
        <p:spPr>
          <a:xfrm>
            <a:off x="548640" y="1737360"/>
            <a:ext cx="6675120" cy="731520"/>
          </a:xfrm>
          <a:prstGeom prst="roundRect">
            <a:avLst>
              <a:gd name="adj" fmla="val 12500"/>
            </a:avLst>
          </a:prstGeom>
          <a:solidFill>
            <a:srgbClr val="F4F8FD"/>
          </a:solidFill>
          <a:ln w="12700">
            <a:solidFill>
              <a:srgbClr val="E7EDF6"/>
            </a:solidFill>
            <a:prstDash val="solid"/>
          </a:ln>
        </p:spPr>
        <p:txBody>
          <a:bodyPr/>
          <a:lstStyle/>
          <a:p>
            <a:endParaRPr lang="en-US"/>
          </a:p>
        </p:txBody>
      </p:sp>
      <p:sp>
        <p:nvSpPr>
          <p:cNvPr id="8" name="Text 5"/>
          <p:cNvSpPr/>
          <p:nvPr/>
        </p:nvSpPr>
        <p:spPr>
          <a:xfrm>
            <a:off x="804672" y="1737360"/>
            <a:ext cx="6163056" cy="731520"/>
          </a:xfrm>
          <a:prstGeom prst="rect">
            <a:avLst/>
          </a:prstGeom>
          <a:noFill/>
          <a:ln/>
        </p:spPr>
        <p:txBody>
          <a:bodyPr wrap="square" lIns="0" tIns="0" rIns="0" bIns="0" rtlCol="0" anchor="ctr"/>
          <a:lstStyle/>
          <a:p>
            <a:pPr marL="0" indent="0">
              <a:buNone/>
            </a:pPr>
            <a:r>
              <a:rPr lang="en-US" sz="1000" b="1" dirty="0">
                <a:solidFill>
                  <a:srgbClr val="2F6BED"/>
                </a:solidFill>
                <a:latin typeface="Arial" pitchFamily="34" charset="0"/>
                <a:ea typeface="Arial" pitchFamily="34" charset="-122"/>
                <a:cs typeface="Arial" pitchFamily="34" charset="-120"/>
              </a:rPr>
              <a:t>Their system is live, their concerns are answered, and they know how to reach us.</a:t>
            </a:r>
            <a:endParaRPr lang="en-US" sz="1000" dirty="0"/>
          </a:p>
        </p:txBody>
      </p:sp>
      <p:sp>
        <p:nvSpPr>
          <p:cNvPr id="9" name="Text 6"/>
          <p:cNvSpPr/>
          <p:nvPr/>
        </p:nvSpPr>
        <p:spPr>
          <a:xfrm>
            <a:off x="548640" y="2743200"/>
            <a:ext cx="320040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DO THIS</a:t>
            </a:r>
            <a:endParaRPr lang="en-US" sz="1100" dirty="0"/>
          </a:p>
        </p:txBody>
      </p:sp>
      <p:sp>
        <p:nvSpPr>
          <p:cNvPr id="10" name="Text 7"/>
          <p:cNvSpPr/>
          <p:nvPr/>
        </p:nvSpPr>
        <p:spPr>
          <a:xfrm>
            <a:off x="548640" y="3127248"/>
            <a:ext cx="3200400" cy="4023360"/>
          </a:xfrm>
          <a:prstGeom prst="rect">
            <a:avLst/>
          </a:prstGeom>
          <a:noFill/>
          <a:ln/>
        </p:spPr>
        <p:txBody>
          <a:bodyPr wrap="square" lIns="0" tIns="0" rIns="0" bIns="0" rtlCol="0" anchor="t"/>
          <a:lstStyle/>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Confirm the production setup: the business and agent names, inbound number, dispatch phone, and hours, all entered in the admin tool.</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Confirm call forwarding is set on their line, then place a real test call and confirm the lead text arrives.</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Walk them through their part: what the agent does, what they do when a lead text arrives, and how to reach us when something feels off.</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Address every open concern before ending the call.</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Book a check-in for day 3-5.</a:t>
            </a:r>
            <a:endParaRPr lang="en-US" sz="1050" dirty="0"/>
          </a:p>
          <a:p>
            <a:pPr marL="342900" indent="-342900">
              <a:spcAft>
                <a:spcPts val="900"/>
              </a:spcAft>
              <a:buSzPct val="100000"/>
              <a:buFont typeface="+mj-lt"/>
              <a:buAutoNum type="arabicPeriod"/>
            </a:pPr>
            <a:r>
              <a:rPr lang="en-US" sz="1050" dirty="0">
                <a:solidFill>
                  <a:srgbClr val="44505F"/>
                </a:solidFill>
                <a:latin typeface="Arial" pitchFamily="34" charset="0"/>
                <a:ea typeface="Arial" pitchFamily="34" charset="-122"/>
                <a:cs typeface="Arial" pitchFamily="34" charset="-120"/>
              </a:rPr>
              <a:t>At the check-in, confirm leads are landing and make the referral ask: “Who else do you know running a shop like yours?”</a:t>
            </a:r>
            <a:endParaRPr lang="en-US" sz="1050" dirty="0"/>
          </a:p>
        </p:txBody>
      </p:sp>
      <p:sp>
        <p:nvSpPr>
          <p:cNvPr id="11" name="Text 8"/>
          <p:cNvSpPr/>
          <p:nvPr/>
        </p:nvSpPr>
        <p:spPr>
          <a:xfrm>
            <a:off x="4114800" y="2743200"/>
            <a:ext cx="3108960" cy="274320"/>
          </a:xfrm>
          <a:prstGeom prst="rect">
            <a:avLst/>
          </a:prstGeom>
          <a:noFill/>
          <a:ln/>
        </p:spPr>
        <p:txBody>
          <a:bodyPr wrap="square" lIns="0" tIns="0" rIns="0" bIns="0" rtlCol="0" anchor="ctr"/>
          <a:lstStyle/>
          <a:p>
            <a:pPr marL="0" indent="0">
              <a:buNone/>
            </a:pPr>
            <a:r>
              <a:rPr lang="en-US" sz="1100" b="1" kern="0" spc="100" dirty="0">
                <a:solidFill>
                  <a:srgbClr val="0C1726"/>
                </a:solidFill>
                <a:latin typeface="Arial" pitchFamily="34" charset="0"/>
                <a:ea typeface="Arial" pitchFamily="34" charset="-122"/>
                <a:cs typeface="Arial" pitchFamily="34" charset="-120"/>
              </a:rPr>
              <a:t>TIPS</a:t>
            </a:r>
            <a:endParaRPr lang="en-US" sz="1100" dirty="0"/>
          </a:p>
        </p:txBody>
      </p:sp>
      <p:sp>
        <p:nvSpPr>
          <p:cNvPr id="12" name="Text 9"/>
          <p:cNvSpPr/>
          <p:nvPr/>
        </p:nvSpPr>
        <p:spPr>
          <a:xfrm>
            <a:off x="4114800" y="3127248"/>
            <a:ext cx="3108960" cy="4023360"/>
          </a:xfrm>
          <a:prstGeom prst="rect">
            <a:avLst/>
          </a:prstGeom>
          <a:noFill/>
          <a:ln/>
        </p:spPr>
        <p:txBody>
          <a:bodyPr wrap="square" lIns="0" tIns="0" rIns="0" bIns="0" rtlCol="0" anchor="t"/>
          <a:lstStyle/>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Use the admin UI for all changes.</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Phone numbers in E.164 format (+1…).</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Their public number never changes; only forwarding does.</a:t>
            </a:r>
            <a:endParaRPr lang="en-US" sz="1050" dirty="0"/>
          </a:p>
          <a:p>
            <a:pPr marL="342900" indent="-342900">
              <a:spcAft>
                <a:spcPts val="900"/>
              </a:spcAft>
              <a:buSzPct val="100000"/>
              <a:buChar char="•"/>
            </a:pPr>
            <a:r>
              <a:rPr lang="en-US" sz="1050" dirty="0">
                <a:solidFill>
                  <a:srgbClr val="44505F"/>
                </a:solidFill>
                <a:latin typeface="Arial" pitchFamily="34" charset="0"/>
                <a:ea typeface="Arial" pitchFamily="34" charset="-122"/>
                <a:cs typeface="Arial" pitchFamily="34" charset="-120"/>
              </a:rPr>
              <a:t>Onboarding isn’t done until a real test call has worked end to end.</a:t>
            </a:r>
            <a:endParaRPr lang="en-US" sz="1050" dirty="0"/>
          </a:p>
          <a:p>
            <a:pPr marL="0" indent="0">
              <a:spcAft>
                <a:spcPts val="900"/>
              </a:spcAft>
              <a:buSzPct val="100000"/>
              <a:buNone/>
            </a:pPr>
            <a:r>
              <a:rPr lang="en-US" sz="1050" dirty="0">
                <a:solidFill>
                  <a:srgbClr val="44505F"/>
                </a:solidFill>
                <a:latin typeface="Arial" pitchFamily="34" charset="0"/>
                <a:ea typeface="Arial" pitchFamily="34" charset="-122"/>
                <a:cs typeface="Arial" pitchFamily="34" charset="-120"/>
              </a:rPr>
              <a:t>Stage done = live system verified with a test call, client knows their part and how to reach us, day 3-5 check-in booked.</a:t>
            </a:r>
            <a:endParaRPr lang="en-US" sz="1050" dirty="0"/>
          </a:p>
        </p:txBody>
      </p:sp>
      <p:sp>
        <p:nvSpPr>
          <p:cNvPr id="13" name="Shape 10"/>
          <p:cNvSpPr/>
          <p:nvPr/>
        </p:nvSpPr>
        <p:spPr>
          <a:xfrm>
            <a:off x="548640" y="7955280"/>
            <a:ext cx="6675120" cy="1600200"/>
          </a:xfrm>
          <a:prstGeom prst="roundRect">
            <a:avLst>
              <a:gd name="adj" fmla="val 5714"/>
            </a:avLst>
          </a:prstGeom>
          <a:solidFill>
            <a:srgbClr val="0C1726"/>
          </a:solidFill>
          <a:ln/>
        </p:spPr>
        <p:txBody>
          <a:bodyPr/>
          <a:lstStyle/>
          <a:p>
            <a:endParaRPr lang="en-US"/>
          </a:p>
        </p:txBody>
      </p:sp>
      <p:pic>
        <p:nvPicPr>
          <p:cNvPr id="14" name="Image 1" descr="preencoded.png"/>
          <p:cNvPicPr>
            <a:picLocks noChangeAspect="1"/>
          </p:cNvPicPr>
          <p:nvPr/>
        </p:nvPicPr>
        <p:blipFill>
          <a:blip r:embed="rId3"/>
          <a:stretch>
            <a:fillRect/>
          </a:stretch>
        </p:blipFill>
        <p:spPr>
          <a:xfrm>
            <a:off x="822960" y="8156448"/>
            <a:ext cx="237744" cy="237744"/>
          </a:xfrm>
          <a:prstGeom prst="rect">
            <a:avLst/>
          </a:prstGeom>
        </p:spPr>
      </p:pic>
      <p:sp>
        <p:nvSpPr>
          <p:cNvPr id="15" name="Text 11"/>
          <p:cNvSpPr/>
          <p:nvPr/>
        </p:nvSpPr>
        <p:spPr>
          <a:xfrm>
            <a:off x="1152144" y="8138160"/>
            <a:ext cx="5760720" cy="274320"/>
          </a:xfrm>
          <a:prstGeom prst="rect">
            <a:avLst/>
          </a:prstGeom>
          <a:noFill/>
          <a:ln/>
        </p:spPr>
        <p:txBody>
          <a:bodyPr wrap="square" lIns="0" tIns="0" rIns="0" bIns="0" rtlCol="0" anchor="ctr"/>
          <a:lstStyle/>
          <a:p>
            <a:pPr marL="0" indent="0">
              <a:buNone/>
            </a:pPr>
            <a:r>
              <a:rPr lang="en-US" sz="1100" b="1" dirty="0">
                <a:solidFill>
                  <a:srgbClr val="CADCFC"/>
                </a:solidFill>
                <a:latin typeface="Arial" pitchFamily="34" charset="0"/>
                <a:ea typeface="Arial" pitchFamily="34" charset="-122"/>
                <a:cs typeface="Arial" pitchFamily="34" charset="-120"/>
              </a:rPr>
              <a:t>Tool</a:t>
            </a:r>
            <a:endParaRPr lang="en-US" sz="1100" dirty="0"/>
          </a:p>
        </p:txBody>
      </p:sp>
      <p:sp>
        <p:nvSpPr>
          <p:cNvPr id="16" name="Text 12"/>
          <p:cNvSpPr/>
          <p:nvPr/>
        </p:nvSpPr>
        <p:spPr>
          <a:xfrm>
            <a:off x="822960" y="8503920"/>
            <a:ext cx="6126480" cy="960120"/>
          </a:xfrm>
          <a:prstGeom prst="rect">
            <a:avLst/>
          </a:prstGeom>
          <a:noFill/>
          <a:ln/>
        </p:spPr>
        <p:txBody>
          <a:bodyPr wrap="square" lIns="0" tIns="0" rIns="0" bIns="0" rtlCol="0" anchor="ctr"/>
          <a:lstStyle/>
          <a:p>
            <a:pPr marL="0" indent="0">
              <a:lnSpc>
                <a:spcPct val="120000"/>
              </a:lnSpc>
              <a:buNone/>
            </a:pPr>
            <a:r>
              <a:rPr lang="en-US" sz="1050" dirty="0">
                <a:solidFill>
                  <a:srgbClr val="FFFFFF"/>
                </a:solidFill>
                <a:latin typeface="Arial" pitchFamily="34" charset="0"/>
                <a:ea typeface="Arial" pitchFamily="34" charset="-122"/>
                <a:cs typeface="Arial" pitchFamily="34" charset="-120"/>
              </a:rPr>
              <a:t>The admin tool (admin-ui page → admin API): create the client, send a test SMS, toggle active. Onboarding done = a correct clients row plus call forwarding set on their line.</a:t>
            </a:r>
            <a:endParaRPr lang="en-US" sz="1050" dirty="0"/>
          </a:p>
        </p:txBody>
      </p:sp>
    </p:spTree>
    <p:extLst>
      <p:ext uri="{BB962C8B-B14F-4D97-AF65-F5344CB8AC3E}">
        <p14:creationId xmlns:p14="http://schemas.microsoft.com/office/powerpoint/2010/main" val="2653040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48640" y="457200"/>
            <a:ext cx="292608" cy="292608"/>
          </a:xfrm>
          <a:prstGeom prst="rect">
            <a:avLst/>
          </a:prstGeom>
        </p:spPr>
      </p:pic>
      <p:sp>
        <p:nvSpPr>
          <p:cNvPr id="3" name="Text 0"/>
          <p:cNvSpPr/>
          <p:nvPr/>
        </p:nvSpPr>
        <p:spPr>
          <a:xfrm>
            <a:off x="932688" y="438912"/>
            <a:ext cx="4114800" cy="329184"/>
          </a:xfrm>
          <a:prstGeom prst="rect">
            <a:avLst/>
          </a:prstGeom>
          <a:noFill/>
          <a:ln/>
        </p:spPr>
        <p:txBody>
          <a:bodyPr wrap="square" lIns="0" tIns="0" rIns="0" bIns="0" rtlCol="0" anchor="ctr"/>
          <a:lstStyle/>
          <a:p>
            <a:pPr marL="0" indent="0">
              <a:buNone/>
            </a:pPr>
            <a:r>
              <a:rPr lang="en-US" sz="1100" b="1" dirty="0">
                <a:solidFill>
                  <a:srgbClr val="0C1726"/>
                </a:solidFill>
                <a:latin typeface="Arial" pitchFamily="34" charset="0"/>
                <a:ea typeface="Arial" pitchFamily="34" charset="-122"/>
                <a:cs typeface="Arial" pitchFamily="34" charset="-120"/>
              </a:rPr>
              <a:t>Dispango Sales Playbook</a:t>
            </a:r>
            <a:endParaRPr lang="en-US" sz="1100" dirty="0"/>
          </a:p>
        </p:txBody>
      </p:sp>
      <p:sp>
        <p:nvSpPr>
          <p:cNvPr id="4" name="Text 1"/>
          <p:cNvSpPr/>
          <p:nvPr/>
        </p:nvSpPr>
        <p:spPr>
          <a:xfrm>
            <a:off x="4846320" y="438912"/>
            <a:ext cx="2377440" cy="329184"/>
          </a:xfrm>
          <a:prstGeom prst="rect">
            <a:avLst/>
          </a:prstGeom>
          <a:noFill/>
          <a:ln/>
        </p:spPr>
        <p:txBody>
          <a:bodyPr wrap="square" lIns="0" tIns="0" rIns="0" bIns="0" rtlCol="0" anchor="ctr"/>
          <a:lstStyle/>
          <a:p>
            <a:pPr marL="0" indent="0" algn="r">
              <a:buNone/>
            </a:pPr>
            <a:r>
              <a:rPr lang="en-US" sz="1000" dirty="0">
                <a:solidFill>
                  <a:srgbClr val="8A97A8"/>
                </a:solidFill>
                <a:latin typeface="Arial" pitchFamily="34" charset="0"/>
                <a:ea typeface="Arial" pitchFamily="34" charset="-122"/>
                <a:cs typeface="Arial" pitchFamily="34" charset="-120"/>
              </a:rPr>
              <a:t>Cadence &amp; metrics</a:t>
            </a:r>
            <a:endParaRPr lang="en-US" sz="1000" dirty="0"/>
          </a:p>
        </p:txBody>
      </p:sp>
      <p:sp>
        <p:nvSpPr>
          <p:cNvPr id="5" name="Shape 2"/>
          <p:cNvSpPr/>
          <p:nvPr/>
        </p:nvSpPr>
        <p:spPr>
          <a:xfrm>
            <a:off x="548640" y="868680"/>
            <a:ext cx="6675120" cy="12802"/>
          </a:xfrm>
          <a:prstGeom prst="rect">
            <a:avLst/>
          </a:prstGeom>
          <a:solidFill>
            <a:srgbClr val="E7EDF6"/>
          </a:solidFill>
          <a:ln/>
        </p:spPr>
        <p:txBody>
          <a:bodyPr/>
          <a:lstStyle/>
          <a:p>
            <a:endParaRPr lang="en-US"/>
          </a:p>
        </p:txBody>
      </p:sp>
      <p:sp>
        <p:nvSpPr>
          <p:cNvPr id="6" name="Text 3"/>
          <p:cNvSpPr/>
          <p:nvPr/>
        </p:nvSpPr>
        <p:spPr>
          <a:xfrm>
            <a:off x="548640" y="1051560"/>
            <a:ext cx="6675120" cy="548640"/>
          </a:xfrm>
          <a:prstGeom prst="rect">
            <a:avLst/>
          </a:prstGeom>
          <a:noFill/>
          <a:ln/>
        </p:spPr>
        <p:txBody>
          <a:bodyPr wrap="square" lIns="0" tIns="0" rIns="0" bIns="0" rtlCol="0" anchor="ctr"/>
          <a:lstStyle/>
          <a:p>
            <a:pPr marL="0" indent="0">
              <a:buNone/>
            </a:pPr>
            <a:r>
              <a:rPr lang="en-US" sz="2600" b="1" dirty="0">
                <a:solidFill>
                  <a:srgbClr val="0C1726"/>
                </a:solidFill>
                <a:latin typeface="Arial" pitchFamily="34" charset="0"/>
                <a:ea typeface="Arial" pitchFamily="34" charset="-122"/>
                <a:cs typeface="Arial" pitchFamily="34" charset="-120"/>
              </a:rPr>
              <a:t>Run it on a rhythm</a:t>
            </a:r>
            <a:endParaRPr lang="en-US" sz="2600" dirty="0"/>
          </a:p>
        </p:txBody>
      </p:sp>
      <p:sp>
        <p:nvSpPr>
          <p:cNvPr id="7" name="Shape 4"/>
          <p:cNvSpPr/>
          <p:nvPr/>
        </p:nvSpPr>
        <p:spPr>
          <a:xfrm>
            <a:off x="548640" y="1783080"/>
            <a:ext cx="3246120" cy="3108960"/>
          </a:xfrm>
          <a:prstGeom prst="roundRect">
            <a:avLst>
              <a:gd name="adj" fmla="val 3529"/>
            </a:avLst>
          </a:prstGeom>
          <a:solidFill>
            <a:srgbClr val="F4F8FD"/>
          </a:solidFill>
          <a:ln w="12700">
            <a:solidFill>
              <a:srgbClr val="E7EDF6"/>
            </a:solidFill>
            <a:prstDash val="solid"/>
          </a:ln>
        </p:spPr>
        <p:txBody>
          <a:bodyPr/>
          <a:lstStyle/>
          <a:p>
            <a:endParaRPr lang="en-US"/>
          </a:p>
        </p:txBody>
      </p:sp>
      <p:sp>
        <p:nvSpPr>
          <p:cNvPr id="8" name="Text 5"/>
          <p:cNvSpPr/>
          <p:nvPr/>
        </p:nvSpPr>
        <p:spPr>
          <a:xfrm>
            <a:off x="822960" y="2011680"/>
            <a:ext cx="2743200" cy="365760"/>
          </a:xfrm>
          <a:prstGeom prst="rect">
            <a:avLst/>
          </a:prstGeom>
          <a:noFill/>
          <a:ln/>
        </p:spPr>
        <p:txBody>
          <a:bodyPr wrap="square" lIns="0" tIns="0" rIns="0" bIns="0" rtlCol="0" anchor="ctr"/>
          <a:lstStyle/>
          <a:p>
            <a:pPr marL="0" indent="0">
              <a:buNone/>
            </a:pPr>
            <a:r>
              <a:rPr lang="en-US" sz="1400" b="1" dirty="0">
                <a:solidFill>
                  <a:srgbClr val="0C1726"/>
                </a:solidFill>
                <a:latin typeface="Arial" pitchFamily="34" charset="0"/>
                <a:ea typeface="Arial" pitchFamily="34" charset="-122"/>
                <a:cs typeface="Arial" pitchFamily="34" charset="-120"/>
              </a:rPr>
              <a:t>Weekly rhythm</a:t>
            </a:r>
            <a:endParaRPr lang="en-US" sz="1400" dirty="0"/>
          </a:p>
        </p:txBody>
      </p:sp>
      <p:sp>
        <p:nvSpPr>
          <p:cNvPr id="9" name="Text 6"/>
          <p:cNvSpPr/>
          <p:nvPr/>
        </p:nvSpPr>
        <p:spPr>
          <a:xfrm>
            <a:off x="822960" y="2468880"/>
            <a:ext cx="2697480" cy="2286000"/>
          </a:xfrm>
          <a:prstGeom prst="rect">
            <a:avLst/>
          </a:prstGeom>
          <a:noFill/>
          <a:ln/>
        </p:spPr>
        <p:txBody>
          <a:bodyPr wrap="square" lIns="0" tIns="0" rIns="0" bIns="0" rtlCol="0" anchor="t"/>
          <a:lstStyle/>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Mon: build/refresh the prospect list</a:t>
            </a:r>
            <a:endParaRPr lang="en-US" sz="1100" dirty="0"/>
          </a:p>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Tue-Thu: cold-call blocks; book Zooms, same day when possible</a:t>
            </a:r>
            <a:endParaRPr lang="en-US" sz="1100" dirty="0"/>
          </a:p>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Daily: work the follow-up queue</a:t>
            </a:r>
            <a:endParaRPr lang="en-US" sz="1100" dirty="0"/>
          </a:p>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Wed-Fri: run Zoom demos; start trials before the call ends</a:t>
            </a:r>
            <a:endParaRPr lang="en-US" sz="1100" dirty="0"/>
          </a:p>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Daily: day 3-5 client check-ins as they come due</a:t>
            </a:r>
            <a:endParaRPr lang="en-US" sz="1100" dirty="0"/>
          </a:p>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Fri: close ending trials, onboard, review the funnel</a:t>
            </a:r>
            <a:endParaRPr lang="en-US" sz="1100" dirty="0"/>
          </a:p>
        </p:txBody>
      </p:sp>
      <p:sp>
        <p:nvSpPr>
          <p:cNvPr id="10" name="Shape 7"/>
          <p:cNvSpPr/>
          <p:nvPr/>
        </p:nvSpPr>
        <p:spPr>
          <a:xfrm>
            <a:off x="4069080" y="1783080"/>
            <a:ext cx="3154680" cy="3108960"/>
          </a:xfrm>
          <a:prstGeom prst="roundRect">
            <a:avLst>
              <a:gd name="adj" fmla="val 3529"/>
            </a:avLst>
          </a:prstGeom>
          <a:solidFill>
            <a:srgbClr val="F4F8FD"/>
          </a:solidFill>
          <a:ln w="12700">
            <a:solidFill>
              <a:srgbClr val="E7EDF6"/>
            </a:solidFill>
            <a:prstDash val="solid"/>
          </a:ln>
        </p:spPr>
        <p:txBody>
          <a:bodyPr/>
          <a:lstStyle/>
          <a:p>
            <a:endParaRPr lang="en-US"/>
          </a:p>
        </p:txBody>
      </p:sp>
      <p:sp>
        <p:nvSpPr>
          <p:cNvPr id="11" name="Text 8"/>
          <p:cNvSpPr/>
          <p:nvPr/>
        </p:nvSpPr>
        <p:spPr>
          <a:xfrm>
            <a:off x="4343400" y="2011680"/>
            <a:ext cx="2743200" cy="365760"/>
          </a:xfrm>
          <a:prstGeom prst="rect">
            <a:avLst/>
          </a:prstGeom>
          <a:noFill/>
          <a:ln/>
        </p:spPr>
        <p:txBody>
          <a:bodyPr wrap="square" lIns="0" tIns="0" rIns="0" bIns="0" rtlCol="0" anchor="ctr"/>
          <a:lstStyle/>
          <a:p>
            <a:pPr marL="0" indent="0">
              <a:buNone/>
            </a:pPr>
            <a:r>
              <a:rPr lang="en-US" sz="1400" b="1" dirty="0">
                <a:solidFill>
                  <a:srgbClr val="0C1726"/>
                </a:solidFill>
                <a:latin typeface="Arial" pitchFamily="34" charset="0"/>
                <a:ea typeface="Arial" pitchFamily="34" charset="-122"/>
                <a:cs typeface="Arial" pitchFamily="34" charset="-120"/>
              </a:rPr>
              <a:t>Funnel to track</a:t>
            </a:r>
            <a:endParaRPr lang="en-US" sz="1400" dirty="0"/>
          </a:p>
        </p:txBody>
      </p:sp>
      <p:sp>
        <p:nvSpPr>
          <p:cNvPr id="12" name="Text 9"/>
          <p:cNvSpPr/>
          <p:nvPr/>
        </p:nvSpPr>
        <p:spPr>
          <a:xfrm>
            <a:off x="4343400" y="2468880"/>
            <a:ext cx="2651760" cy="2286000"/>
          </a:xfrm>
          <a:prstGeom prst="rect">
            <a:avLst/>
          </a:prstGeom>
          <a:noFill/>
          <a:ln/>
        </p:spPr>
        <p:txBody>
          <a:bodyPr wrap="square" lIns="0" tIns="0" rIns="0" bIns="0" rtlCol="0" anchor="t"/>
          <a:lstStyle/>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Lists built → calls made</a:t>
            </a:r>
            <a:endParaRPr lang="en-US" sz="1100" dirty="0"/>
          </a:p>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Calls → demos held</a:t>
            </a:r>
            <a:endParaRPr lang="en-US" sz="1100" dirty="0"/>
          </a:p>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Demos held → trials started</a:t>
            </a:r>
            <a:endParaRPr lang="en-US" sz="1100" dirty="0"/>
          </a:p>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Trials started → converted to paid</a:t>
            </a:r>
            <a:endParaRPr lang="en-US" sz="1100" dirty="0"/>
          </a:p>
          <a:p>
            <a:pPr marL="342900" indent="-342900">
              <a:spcAft>
                <a:spcPts val="1000"/>
              </a:spcAft>
              <a:buSzPct val="100000"/>
              <a:buChar char="•"/>
            </a:pPr>
            <a:r>
              <a:rPr lang="en-US" sz="1100" dirty="0">
                <a:solidFill>
                  <a:srgbClr val="44505F"/>
                </a:solidFill>
                <a:latin typeface="Arial" pitchFamily="34" charset="0"/>
                <a:ea typeface="Arial" pitchFamily="34" charset="-122"/>
                <a:cs typeface="Arial" pitchFamily="34" charset="-120"/>
              </a:rPr>
              <a:t>Converted → onboarded</a:t>
            </a:r>
            <a:endParaRPr lang="en-US" sz="1100" dirty="0"/>
          </a:p>
        </p:txBody>
      </p:sp>
      <p:sp>
        <p:nvSpPr>
          <p:cNvPr id="13" name="Shape 10"/>
          <p:cNvSpPr/>
          <p:nvPr/>
        </p:nvSpPr>
        <p:spPr>
          <a:xfrm>
            <a:off x="548640" y="5166360"/>
            <a:ext cx="6675120" cy="1371600"/>
          </a:xfrm>
          <a:prstGeom prst="roundRect">
            <a:avLst>
              <a:gd name="adj" fmla="val 8000"/>
            </a:avLst>
          </a:prstGeom>
          <a:solidFill>
            <a:srgbClr val="0C1726"/>
          </a:solidFill>
          <a:ln/>
        </p:spPr>
        <p:txBody>
          <a:bodyPr/>
          <a:lstStyle/>
          <a:p>
            <a:endParaRPr lang="en-US"/>
          </a:p>
        </p:txBody>
      </p:sp>
      <p:sp>
        <p:nvSpPr>
          <p:cNvPr id="14" name="Text 11"/>
          <p:cNvSpPr/>
          <p:nvPr/>
        </p:nvSpPr>
        <p:spPr>
          <a:xfrm>
            <a:off x="822960" y="5349240"/>
            <a:ext cx="5486400" cy="320040"/>
          </a:xfrm>
          <a:prstGeom prst="rect">
            <a:avLst/>
          </a:prstGeom>
          <a:noFill/>
          <a:ln/>
        </p:spPr>
        <p:txBody>
          <a:bodyPr wrap="square" lIns="0" tIns="0" rIns="0" bIns="0" rtlCol="0" anchor="ctr"/>
          <a:lstStyle/>
          <a:p>
            <a:pPr marL="0" indent="0">
              <a:buNone/>
            </a:pPr>
            <a:r>
              <a:rPr lang="en-US" sz="1200" b="1" dirty="0">
                <a:solidFill>
                  <a:srgbClr val="CADCFC"/>
                </a:solidFill>
                <a:latin typeface="Arial" pitchFamily="34" charset="0"/>
                <a:ea typeface="Arial" pitchFamily="34" charset="-122"/>
                <a:cs typeface="Arial" pitchFamily="34" charset="-120"/>
              </a:rPr>
              <a:t>The one number that matters</a:t>
            </a:r>
            <a:endParaRPr lang="en-US" sz="1200" dirty="0"/>
          </a:p>
        </p:txBody>
      </p:sp>
      <p:sp>
        <p:nvSpPr>
          <p:cNvPr id="15" name="Text 12"/>
          <p:cNvSpPr/>
          <p:nvPr/>
        </p:nvSpPr>
        <p:spPr>
          <a:xfrm>
            <a:off x="822960" y="5687568"/>
            <a:ext cx="6126480" cy="731520"/>
          </a:xfrm>
          <a:prstGeom prst="rect">
            <a:avLst/>
          </a:prstGeom>
          <a:noFill/>
          <a:ln/>
        </p:spPr>
        <p:txBody>
          <a:bodyPr wrap="square" lIns="0" tIns="0" rIns="0" bIns="0" rtlCol="0" anchor="ctr"/>
          <a:lstStyle/>
          <a:p>
            <a:pPr marL="0" indent="0">
              <a:lnSpc>
                <a:spcPct val="120000"/>
              </a:lnSpc>
              <a:buNone/>
            </a:pPr>
            <a:r>
              <a:rPr lang="en-US" sz="1100" dirty="0">
                <a:solidFill>
                  <a:srgbClr val="FFFFFF"/>
                </a:solidFill>
                <a:latin typeface="Arial" pitchFamily="34" charset="0"/>
                <a:ea typeface="Arial" pitchFamily="34" charset="-122"/>
                <a:cs typeface="Arial" pitchFamily="34" charset="-120"/>
              </a:rPr>
              <a:t>Trials started per week. Everything upstream (lists, calls, demos) exists to grow it; everything downstream (close, onboard) converts it. Review it every Friday.</a:t>
            </a:r>
            <a:endParaRPr lang="en-US" sz="1100" dirty="0"/>
          </a:p>
        </p:txBody>
      </p:sp>
    </p:spTree>
    <p:extLst>
      <p:ext uri="{BB962C8B-B14F-4D97-AF65-F5344CB8AC3E}">
        <p14:creationId xmlns:p14="http://schemas.microsoft.com/office/powerpoint/2010/main" val="19769114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918515D-35E4-6243-AB12-24A4B7ED72EC}">
  <we:reference id="WA200010001" version="1.0.0.1" store="Omex" storeType="OMEX"/>
  <we:alternateReferences>
    <we:reference id="WA200010001" version="1.0.0.1" store="WA200010001" storeType="OMEX"/>
  </we:alternateReferences>
  <we:properties>
    <we:property name="claude.fileId" value="&quot;b199a446-0478-4c74-90bd-f49d0888198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2645</TotalTime>
  <Words>1871</Words>
  <Application>Microsoft Macintosh PowerPoint</Application>
  <PresentationFormat>Custom</PresentationFormat>
  <Paragraphs>172</Paragraphs>
  <Slides>9</Slides>
  <Notes>9</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9</vt:i4>
      </vt:variant>
    </vt:vector>
  </HeadingPairs>
  <TitlesOfParts>
    <vt:vector size="11"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Miguel Segura</cp:lastModifiedBy>
  <cp:revision>2</cp:revision>
  <dcterms:created xsi:type="dcterms:W3CDTF">2026-06-26T11:38:46Z</dcterms:created>
  <dcterms:modified xsi:type="dcterms:W3CDTF">2026-07-10T15:32:00Z</dcterms:modified>
</cp:coreProperties>
</file>